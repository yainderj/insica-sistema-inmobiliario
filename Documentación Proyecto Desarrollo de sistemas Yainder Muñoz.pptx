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gJa74NYD3ygXyoWGH77912iDII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832FAEA-175A-40E4-AA56-F8DBB50E5F8A}">
  <a:tblStyle styleId="{E832FAEA-175A-40E4-AA56-F8DBB50E5F8A}"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89748b34d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g3a89748b34d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a89748b34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3a89748b34d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a89748b34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g3a89748b34d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a89748b34d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g3a89748b34d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ed1769e16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g3ed1769e16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f8df748cd3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g3f8df748cd3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f8df748cd3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g3f8df748cd3_0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f8df748cd3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g3f8df748cd3_0_1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2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VE"/>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17" name="Shape 17"/>
        <p:cNvGrpSpPr/>
        <p:nvPr/>
      </p:nvGrpSpPr>
      <p:grpSpPr>
        <a:xfrm>
          <a:off x="0" y="0"/>
          <a:ext cx="0" cy="0"/>
          <a:chOff x="0" y="0"/>
          <a:chExt cx="0" cy="0"/>
        </a:xfrm>
      </p:grpSpPr>
      <p:sp>
        <p:nvSpPr>
          <p:cNvPr id="18" name="Google Shape;18;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V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V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7" name="Shape 27"/>
        <p:cNvGrpSpPr/>
        <p:nvPr/>
      </p:nvGrpSpPr>
      <p:grpSpPr>
        <a:xfrm>
          <a:off x="0" y="0"/>
          <a:ext cx="0" cy="0"/>
          <a:chOff x="0" y="0"/>
          <a:chExt cx="0" cy="0"/>
        </a:xfrm>
      </p:grpSpPr>
      <p:sp>
        <p:nvSpPr>
          <p:cNvPr id="28" name="Google Shape;28;p2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V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3" name="Shape 33"/>
        <p:cNvGrpSpPr/>
        <p:nvPr/>
      </p:nvGrpSpPr>
      <p:grpSpPr>
        <a:xfrm>
          <a:off x="0" y="0"/>
          <a:ext cx="0" cy="0"/>
          <a:chOff x="0" y="0"/>
          <a:chExt cx="0" cy="0"/>
        </a:xfrm>
      </p:grpSpPr>
      <p:sp>
        <p:nvSpPr>
          <p:cNvPr id="34" name="Google Shape;34;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3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V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0" name="Shape 40"/>
        <p:cNvGrpSpPr/>
        <p:nvPr/>
      </p:nvGrpSpPr>
      <p:grpSpPr>
        <a:xfrm>
          <a:off x="0" y="0"/>
          <a:ext cx="0" cy="0"/>
          <a:chOff x="0" y="0"/>
          <a:chExt cx="0" cy="0"/>
        </a:xfrm>
      </p:grpSpPr>
      <p:sp>
        <p:nvSpPr>
          <p:cNvPr id="41" name="Google Shape;41;p3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3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3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3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V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9" name="Shape 49"/>
        <p:cNvGrpSpPr/>
        <p:nvPr/>
      </p:nvGrpSpPr>
      <p:grpSpPr>
        <a:xfrm>
          <a:off x="0" y="0"/>
          <a:ext cx="0" cy="0"/>
          <a:chOff x="0" y="0"/>
          <a:chExt cx="0" cy="0"/>
        </a:xfrm>
      </p:grpSpPr>
      <p:sp>
        <p:nvSpPr>
          <p:cNvPr id="50" name="Google Shape;50;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V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3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3"/>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33"/>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V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3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4"/>
          <p:cNvSpPr/>
          <p:nvPr>
            <p:ph idx="2" type="pic"/>
          </p:nvPr>
        </p:nvSpPr>
        <p:spPr>
          <a:xfrm>
            <a:off x="5183188" y="987425"/>
            <a:ext cx="6172200" cy="4873625"/>
          </a:xfrm>
          <a:prstGeom prst="rect">
            <a:avLst/>
          </a:prstGeom>
          <a:noFill/>
          <a:ln>
            <a:noFill/>
          </a:ln>
        </p:spPr>
      </p:sp>
      <p:sp>
        <p:nvSpPr>
          <p:cNvPr id="64" name="Google Shape;64;p34"/>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V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5"/>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V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36"/>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6"/>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V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VE"/>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 Id="rId9" Type="http://schemas.openxmlformats.org/officeDocument/2006/relationships/image" Target="../media/image9.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
          <p:cNvPicPr preferRelativeResize="0"/>
          <p:nvPr/>
        </p:nvPicPr>
        <p:blipFill rotWithShape="1">
          <a:blip r:embed="rId3">
            <a:alphaModFix/>
          </a:blip>
          <a:srcRect b="0" l="0" r="0" t="0"/>
          <a:stretch/>
        </p:blipFill>
        <p:spPr>
          <a:xfrm>
            <a:off x="427965" y="282653"/>
            <a:ext cx="1020690" cy="1246119"/>
          </a:xfrm>
          <a:prstGeom prst="rect">
            <a:avLst/>
          </a:prstGeom>
          <a:noFill/>
          <a:ln>
            <a:noFill/>
          </a:ln>
        </p:spPr>
      </p:pic>
      <p:sp>
        <p:nvSpPr>
          <p:cNvPr id="85" name="Google Shape;85;p1"/>
          <p:cNvSpPr/>
          <p:nvPr/>
        </p:nvSpPr>
        <p:spPr>
          <a:xfrm>
            <a:off x="3214688" y="259255"/>
            <a:ext cx="5129212" cy="132343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VE" sz="2000" u="none" cap="none" strike="noStrike">
                <a:solidFill>
                  <a:schemeClr val="dk1"/>
                </a:solidFill>
                <a:latin typeface="Calibri"/>
                <a:ea typeface="Calibri"/>
                <a:cs typeface="Calibri"/>
                <a:sym typeface="Calibri"/>
              </a:rPr>
              <a:t>UNIVERSIDAD DEL ZULIA           </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b="0" i="0" lang="es-VE" sz="2000" u="none" cap="none" strike="noStrike">
                <a:solidFill>
                  <a:schemeClr val="dk1"/>
                </a:solidFill>
                <a:latin typeface="Calibri"/>
                <a:ea typeface="Calibri"/>
                <a:cs typeface="Calibri"/>
                <a:sym typeface="Calibri"/>
              </a:rPr>
              <a:t>FACULTAD EXPERIMENTAL DE CIENCIAS</a:t>
            </a:r>
            <a:endParaRPr/>
          </a:p>
          <a:p>
            <a:pPr indent="0" lvl="0" marL="0" marR="0" rtl="0" algn="ctr">
              <a:spcBef>
                <a:spcPts val="0"/>
              </a:spcBef>
              <a:spcAft>
                <a:spcPts val="0"/>
              </a:spcAft>
              <a:buNone/>
            </a:pPr>
            <a:r>
              <a:rPr b="0" i="0" lang="es-VE" sz="2000" u="none" cap="none" strike="noStrike">
                <a:solidFill>
                  <a:schemeClr val="dk1"/>
                </a:solidFill>
                <a:latin typeface="Calibri"/>
                <a:ea typeface="Calibri"/>
                <a:cs typeface="Calibri"/>
                <a:sym typeface="Calibri"/>
              </a:rPr>
              <a:t>DIVISIÓN DE PROGRAMAS ESPECIALES</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rPr b="0" i="0" lang="es-VE" sz="2000" u="none" cap="none" strike="noStrike">
                <a:solidFill>
                  <a:schemeClr val="dk1"/>
                </a:solidFill>
                <a:latin typeface="Calibri"/>
                <a:ea typeface="Calibri"/>
                <a:cs typeface="Calibri"/>
                <a:sym typeface="Calibri"/>
              </a:rPr>
              <a:t>LICENCIATURA EN COMPUTACIÓN</a:t>
            </a:r>
            <a:endParaRPr b="0" i="0" sz="2000" u="none" cap="none" strike="noStrike">
              <a:solidFill>
                <a:schemeClr val="dk1"/>
              </a:solidFill>
              <a:latin typeface="Calibri"/>
              <a:ea typeface="Calibri"/>
              <a:cs typeface="Calibri"/>
              <a:sym typeface="Calibri"/>
            </a:endParaRPr>
          </a:p>
        </p:txBody>
      </p:sp>
      <p:sp>
        <p:nvSpPr>
          <p:cNvPr id="86" name="Google Shape;86;p1"/>
          <p:cNvSpPr/>
          <p:nvPr/>
        </p:nvSpPr>
        <p:spPr>
          <a:xfrm>
            <a:off x="1807593" y="2190371"/>
            <a:ext cx="8511908"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VE" sz="4400">
                <a:solidFill>
                  <a:schemeClr val="dk1"/>
                </a:solidFill>
                <a:latin typeface="Calibri"/>
                <a:ea typeface="Calibri"/>
                <a:cs typeface="Calibri"/>
                <a:sym typeface="Calibri"/>
              </a:rPr>
              <a:t>DESARROLLO DE SISTEMAS</a:t>
            </a:r>
            <a:endParaRPr/>
          </a:p>
        </p:txBody>
      </p:sp>
      <p:sp>
        <p:nvSpPr>
          <p:cNvPr id="87" name="Google Shape;87;p1"/>
          <p:cNvSpPr/>
          <p:nvPr/>
        </p:nvSpPr>
        <p:spPr>
          <a:xfrm>
            <a:off x="1448650" y="3493600"/>
            <a:ext cx="9767100" cy="1127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s-VE" sz="2800">
                <a:solidFill>
                  <a:schemeClr val="dk1"/>
                </a:solidFill>
                <a:latin typeface="Calibri"/>
                <a:ea typeface="Calibri"/>
                <a:cs typeface="Calibri"/>
                <a:sym typeface="Calibri"/>
              </a:rPr>
              <a:t>Sistema Inteligente de Gestión y Optimización de Operaciones para el Sector Inmobiliario. Caso: INSICA </a:t>
            </a:r>
            <a:endParaRPr sz="2800">
              <a:solidFill>
                <a:schemeClr val="dk1"/>
              </a:solidFill>
              <a:latin typeface="Calibri"/>
              <a:ea typeface="Calibri"/>
              <a:cs typeface="Calibri"/>
              <a:sym typeface="Calibri"/>
            </a:endParaRPr>
          </a:p>
        </p:txBody>
      </p:sp>
      <p:sp>
        <p:nvSpPr>
          <p:cNvPr id="88" name="Google Shape;88;p1"/>
          <p:cNvSpPr/>
          <p:nvPr/>
        </p:nvSpPr>
        <p:spPr>
          <a:xfrm>
            <a:off x="5381350" y="6199075"/>
            <a:ext cx="1883100" cy="338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VE" sz="1600">
                <a:solidFill>
                  <a:schemeClr val="dk1"/>
                </a:solidFill>
                <a:latin typeface="Calibri"/>
                <a:ea typeface="Calibri"/>
                <a:cs typeface="Calibri"/>
                <a:sym typeface="Calibri"/>
              </a:rPr>
              <a:t>PERIODO II - 2026</a:t>
            </a:r>
            <a:endParaRPr sz="1600">
              <a:solidFill>
                <a:schemeClr val="dk1"/>
              </a:solidFill>
              <a:latin typeface="Calibri"/>
              <a:ea typeface="Calibri"/>
              <a:cs typeface="Calibri"/>
              <a:sym typeface="Calibri"/>
            </a:endParaRPr>
          </a:p>
        </p:txBody>
      </p:sp>
      <p:sp>
        <p:nvSpPr>
          <p:cNvPr id="89" name="Google Shape;89;p1"/>
          <p:cNvSpPr/>
          <p:nvPr/>
        </p:nvSpPr>
        <p:spPr>
          <a:xfrm>
            <a:off x="21869" y="2926939"/>
            <a:ext cx="12192000" cy="503434"/>
          </a:xfrm>
          <a:prstGeom prst="rect">
            <a:avLst/>
          </a:prstGeom>
          <a:solidFill>
            <a:srgbClr val="1E4E79"/>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800">
                <a:solidFill>
                  <a:schemeClr val="lt1"/>
                </a:solidFill>
                <a:latin typeface="Verdana"/>
                <a:ea typeface="Verdana"/>
                <a:cs typeface="Verdana"/>
                <a:sym typeface="Verdana"/>
              </a:rPr>
              <a:t>PROYECTO FINAL</a:t>
            </a:r>
            <a:endParaRPr sz="2800">
              <a:solidFill>
                <a:schemeClr val="lt1"/>
              </a:solidFill>
              <a:latin typeface="Calibri"/>
              <a:ea typeface="Calibri"/>
              <a:cs typeface="Calibri"/>
              <a:sym typeface="Calibri"/>
            </a:endParaRPr>
          </a:p>
        </p:txBody>
      </p:sp>
      <p:sp>
        <p:nvSpPr>
          <p:cNvPr id="90" name="Google Shape;90;p1"/>
          <p:cNvSpPr/>
          <p:nvPr/>
        </p:nvSpPr>
        <p:spPr>
          <a:xfrm>
            <a:off x="8824264" y="5442419"/>
            <a:ext cx="165090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s-VE" sz="1800">
                <a:solidFill>
                  <a:schemeClr val="dk1"/>
                </a:solidFill>
                <a:latin typeface="Calibri"/>
                <a:ea typeface="Calibri"/>
                <a:cs typeface="Calibri"/>
                <a:sym typeface="Calibri"/>
              </a:rPr>
              <a:t>Presentado por</a:t>
            </a:r>
            <a:endParaRPr b="1" sz="1800">
              <a:solidFill>
                <a:schemeClr val="dk1"/>
              </a:solidFill>
              <a:latin typeface="Calibri"/>
              <a:ea typeface="Calibri"/>
              <a:cs typeface="Calibri"/>
              <a:sym typeface="Calibri"/>
            </a:endParaRPr>
          </a:p>
        </p:txBody>
      </p:sp>
      <p:sp>
        <p:nvSpPr>
          <p:cNvPr id="91" name="Google Shape;91;p1"/>
          <p:cNvSpPr/>
          <p:nvPr/>
        </p:nvSpPr>
        <p:spPr>
          <a:xfrm>
            <a:off x="8824275" y="5795050"/>
            <a:ext cx="3013800" cy="646200"/>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chemeClr val="dk1"/>
              </a:buClr>
              <a:buSzPts val="1800"/>
              <a:buFont typeface="Arial"/>
              <a:buChar char="•"/>
            </a:pPr>
            <a:r>
              <a:rPr lang="es-VE" sz="1800">
                <a:solidFill>
                  <a:schemeClr val="dk1"/>
                </a:solidFill>
                <a:latin typeface="Calibri"/>
                <a:ea typeface="Calibri"/>
                <a:cs typeface="Calibri"/>
                <a:sym typeface="Calibri"/>
              </a:rPr>
              <a:t>Muñoz Piña, Yainder Jesús</a:t>
            </a:r>
            <a:endParaRPr/>
          </a:p>
          <a:p>
            <a:pPr indent="0" lvl="0" marL="45720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92" name="Google Shape;92;p1"/>
          <p:cNvPicPr preferRelativeResize="0"/>
          <p:nvPr/>
        </p:nvPicPr>
        <p:blipFill rotWithShape="1">
          <a:blip r:embed="rId4">
            <a:alphaModFix/>
          </a:blip>
          <a:srcRect b="0" l="0" r="0" t="0"/>
          <a:stretch/>
        </p:blipFill>
        <p:spPr>
          <a:xfrm>
            <a:off x="10248901" y="186362"/>
            <a:ext cx="1375526" cy="13755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p:nvPr/>
        </p:nvSpPr>
        <p:spPr>
          <a:xfrm>
            <a:off x="0" y="0"/>
            <a:ext cx="12192000" cy="503434"/>
          </a:xfrm>
          <a:prstGeom prst="rect">
            <a:avLst/>
          </a:prstGeom>
          <a:solidFill>
            <a:srgbClr val="1E4E79"/>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PROYECTO FINAL</a:t>
            </a:r>
            <a:endParaRPr sz="2400">
              <a:solidFill>
                <a:schemeClr val="lt1"/>
              </a:solidFill>
              <a:latin typeface="Calibri"/>
              <a:ea typeface="Calibri"/>
              <a:cs typeface="Calibri"/>
              <a:sym typeface="Calibri"/>
            </a:endParaRPr>
          </a:p>
        </p:txBody>
      </p:sp>
      <p:sp>
        <p:nvSpPr>
          <p:cNvPr id="98" name="Google Shape;98;p2"/>
          <p:cNvSpPr/>
          <p:nvPr/>
        </p:nvSpPr>
        <p:spPr>
          <a:xfrm>
            <a:off x="0" y="503434"/>
            <a:ext cx="12192000" cy="554804"/>
          </a:xfrm>
          <a:prstGeom prst="rect">
            <a:avLst/>
          </a:prstGeom>
          <a:solidFill>
            <a:srgbClr val="2E75B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INDICE</a:t>
            </a:r>
            <a:endParaRPr sz="2400">
              <a:solidFill>
                <a:schemeClr val="lt1"/>
              </a:solidFill>
              <a:latin typeface="Calibri"/>
              <a:ea typeface="Calibri"/>
              <a:cs typeface="Calibri"/>
              <a:sym typeface="Calibri"/>
            </a:endParaRPr>
          </a:p>
        </p:txBody>
      </p:sp>
      <p:sp>
        <p:nvSpPr>
          <p:cNvPr id="99" name="Google Shape;99;p2"/>
          <p:cNvSpPr txBox="1"/>
          <p:nvPr/>
        </p:nvSpPr>
        <p:spPr>
          <a:xfrm>
            <a:off x="883767" y="1561672"/>
            <a:ext cx="10323900" cy="3786600"/>
          </a:xfrm>
          <a:prstGeom prst="rect">
            <a:avLst/>
          </a:prstGeom>
          <a:noFill/>
          <a:ln>
            <a:noFill/>
          </a:ln>
        </p:spPr>
        <p:txBody>
          <a:bodyPr anchorCtr="0" anchor="t" bIns="45700" lIns="91425" spcFirstLastPara="1" rIns="91425" wrap="square" tIns="45700">
            <a:spAutoFit/>
          </a:bodyPr>
          <a:lstStyle/>
          <a:p>
            <a:pPr indent="-539750" lvl="0" marL="539750" marR="0" rtl="0" algn="l">
              <a:spcBef>
                <a:spcPts val="0"/>
              </a:spcBef>
              <a:spcAft>
                <a:spcPts val="0"/>
              </a:spcAft>
              <a:buClr>
                <a:schemeClr val="dk1"/>
              </a:buClr>
              <a:buSzPts val="2400"/>
              <a:buFont typeface="Calibri"/>
              <a:buAutoNum type="arabicPeriod"/>
            </a:pPr>
            <a:r>
              <a:rPr lang="es-VE" sz="2400">
                <a:solidFill>
                  <a:schemeClr val="dk1"/>
                </a:solidFill>
                <a:latin typeface="Calibri"/>
                <a:ea typeface="Calibri"/>
                <a:cs typeface="Calibri"/>
                <a:sym typeface="Calibri"/>
              </a:rPr>
              <a:t>Entrada, proceso y salidas</a:t>
            </a:r>
            <a:endParaRPr/>
          </a:p>
          <a:p>
            <a:pPr indent="-539750" lvl="0" marL="539750" marR="0" rtl="0" algn="l">
              <a:spcBef>
                <a:spcPts val="0"/>
              </a:spcBef>
              <a:spcAft>
                <a:spcPts val="0"/>
              </a:spcAft>
              <a:buClr>
                <a:schemeClr val="dk1"/>
              </a:buClr>
              <a:buSzPts val="2400"/>
              <a:buFont typeface="Calibri"/>
              <a:buAutoNum type="arabicPeriod"/>
            </a:pPr>
            <a:r>
              <a:rPr lang="es-VE" sz="2400">
                <a:solidFill>
                  <a:schemeClr val="dk1"/>
                </a:solidFill>
                <a:latin typeface="Calibri"/>
                <a:ea typeface="Calibri"/>
                <a:cs typeface="Calibri"/>
                <a:sym typeface="Calibri"/>
              </a:rPr>
              <a:t>Ciclo de vida</a:t>
            </a:r>
            <a:endParaRPr sz="2400">
              <a:solidFill>
                <a:schemeClr val="dk1"/>
              </a:solidFill>
              <a:latin typeface="Calibri"/>
              <a:ea typeface="Calibri"/>
              <a:cs typeface="Calibri"/>
              <a:sym typeface="Calibri"/>
            </a:endParaRPr>
          </a:p>
          <a:p>
            <a:pPr indent="-539750" lvl="0" marL="539750" marR="0" rtl="0" algn="l">
              <a:spcBef>
                <a:spcPts val="0"/>
              </a:spcBef>
              <a:spcAft>
                <a:spcPts val="0"/>
              </a:spcAft>
              <a:buClr>
                <a:schemeClr val="dk1"/>
              </a:buClr>
              <a:buSzPts val="2400"/>
              <a:buFont typeface="Calibri"/>
              <a:buAutoNum type="arabicPeriod"/>
            </a:pPr>
            <a:r>
              <a:rPr lang="es-VE" sz="2400">
                <a:solidFill>
                  <a:schemeClr val="dk1"/>
                </a:solidFill>
                <a:latin typeface="Calibri"/>
                <a:ea typeface="Calibri"/>
                <a:cs typeface="Calibri"/>
                <a:sym typeface="Calibri"/>
              </a:rPr>
              <a:t>Tecnologías y herramientas de desarrollo</a:t>
            </a:r>
            <a:endParaRPr sz="2400">
              <a:solidFill>
                <a:schemeClr val="dk1"/>
              </a:solidFill>
              <a:latin typeface="Calibri"/>
              <a:ea typeface="Calibri"/>
              <a:cs typeface="Calibri"/>
              <a:sym typeface="Calibri"/>
            </a:endParaRPr>
          </a:p>
          <a:p>
            <a:pPr indent="-539750" lvl="0" marL="539750" marR="0" rtl="0" algn="l">
              <a:spcBef>
                <a:spcPts val="0"/>
              </a:spcBef>
              <a:spcAft>
                <a:spcPts val="0"/>
              </a:spcAft>
              <a:buClr>
                <a:schemeClr val="dk1"/>
              </a:buClr>
              <a:buSzPts val="2400"/>
              <a:buFont typeface="Calibri"/>
              <a:buAutoNum type="arabicPeriod"/>
            </a:pPr>
            <a:r>
              <a:rPr lang="es-VE" sz="2400">
                <a:solidFill>
                  <a:schemeClr val="dk1"/>
                </a:solidFill>
                <a:latin typeface="Calibri"/>
                <a:ea typeface="Calibri"/>
                <a:cs typeface="Calibri"/>
                <a:sym typeface="Calibri"/>
              </a:rPr>
              <a:t>Diagramas de Flujo de Datos (DFD)</a:t>
            </a:r>
            <a:endParaRPr sz="2400">
              <a:solidFill>
                <a:schemeClr val="dk1"/>
              </a:solidFill>
              <a:latin typeface="Calibri"/>
              <a:ea typeface="Calibri"/>
              <a:cs typeface="Calibri"/>
              <a:sym typeface="Calibri"/>
            </a:endParaRPr>
          </a:p>
          <a:p>
            <a:pPr indent="-539750" lvl="0" marL="539750" marR="0" rtl="0" algn="l">
              <a:spcBef>
                <a:spcPts val="0"/>
              </a:spcBef>
              <a:spcAft>
                <a:spcPts val="0"/>
              </a:spcAft>
              <a:buClr>
                <a:schemeClr val="dk1"/>
              </a:buClr>
              <a:buSzPts val="2400"/>
              <a:buFont typeface="Calibri"/>
              <a:buAutoNum type="arabicPeriod"/>
            </a:pPr>
            <a:r>
              <a:rPr lang="es-VE" sz="2400">
                <a:solidFill>
                  <a:schemeClr val="dk1"/>
                </a:solidFill>
                <a:latin typeface="Calibri"/>
                <a:ea typeface="Calibri"/>
                <a:cs typeface="Calibri"/>
                <a:sym typeface="Calibri"/>
              </a:rPr>
              <a:t>Diagrama Entidad-Relación</a:t>
            </a:r>
            <a:endParaRPr sz="2400">
              <a:solidFill>
                <a:schemeClr val="dk1"/>
              </a:solidFill>
              <a:latin typeface="Calibri"/>
              <a:ea typeface="Calibri"/>
              <a:cs typeface="Calibri"/>
              <a:sym typeface="Calibri"/>
            </a:endParaRPr>
          </a:p>
          <a:p>
            <a:pPr indent="-539750" lvl="0" marL="539750" marR="0" rtl="0" algn="l">
              <a:spcBef>
                <a:spcPts val="0"/>
              </a:spcBef>
              <a:spcAft>
                <a:spcPts val="0"/>
              </a:spcAft>
              <a:buClr>
                <a:schemeClr val="dk1"/>
              </a:buClr>
              <a:buSzPts val="2400"/>
              <a:buFont typeface="Calibri"/>
              <a:buAutoNum type="arabicPeriod"/>
            </a:pPr>
            <a:r>
              <a:rPr lang="es-VE" sz="2400">
                <a:solidFill>
                  <a:schemeClr val="dk1"/>
                </a:solidFill>
                <a:latin typeface="Calibri"/>
                <a:ea typeface="Calibri"/>
                <a:cs typeface="Calibri"/>
                <a:sym typeface="Calibri"/>
              </a:rPr>
              <a:t>Diccionario de Datos (DFD)</a:t>
            </a:r>
            <a:endParaRPr/>
          </a:p>
          <a:p>
            <a:pPr indent="-539750" lvl="0" marL="539750" marR="0" rtl="0" algn="l">
              <a:spcBef>
                <a:spcPts val="0"/>
              </a:spcBef>
              <a:spcAft>
                <a:spcPts val="0"/>
              </a:spcAft>
              <a:buClr>
                <a:schemeClr val="dk1"/>
              </a:buClr>
              <a:buSzPts val="2400"/>
              <a:buFont typeface="Calibri"/>
              <a:buAutoNum type="arabicPeriod"/>
            </a:pPr>
            <a:r>
              <a:rPr lang="es-VE" sz="2400">
                <a:solidFill>
                  <a:schemeClr val="dk1"/>
                </a:solidFill>
                <a:latin typeface="Calibri"/>
                <a:ea typeface="Calibri"/>
                <a:cs typeface="Calibri"/>
                <a:sym typeface="Calibri"/>
              </a:rPr>
              <a:t>Interfaces de Entrada / Salida</a:t>
            </a:r>
            <a:endParaRPr/>
          </a:p>
          <a:p>
            <a:pPr indent="-539750" lvl="0" marL="539750" marR="0" rtl="0" algn="l">
              <a:spcBef>
                <a:spcPts val="0"/>
              </a:spcBef>
              <a:spcAft>
                <a:spcPts val="0"/>
              </a:spcAft>
              <a:buClr>
                <a:schemeClr val="dk1"/>
              </a:buClr>
              <a:buSzPts val="2400"/>
              <a:buFont typeface="Calibri"/>
              <a:buAutoNum type="arabicPeriod"/>
            </a:pPr>
            <a:r>
              <a:rPr lang="es-VE" sz="2400">
                <a:solidFill>
                  <a:schemeClr val="dk1"/>
                </a:solidFill>
                <a:latin typeface="Calibri"/>
                <a:ea typeface="Calibri"/>
                <a:cs typeface="Calibri"/>
                <a:sym typeface="Calibri"/>
              </a:rPr>
              <a:t>Pruebas del Sistema</a:t>
            </a:r>
            <a:endParaRPr/>
          </a:p>
          <a:p>
            <a:pPr indent="-539750" lvl="0" marL="539750" marR="0" rtl="0" algn="l">
              <a:spcBef>
                <a:spcPts val="0"/>
              </a:spcBef>
              <a:spcAft>
                <a:spcPts val="0"/>
              </a:spcAft>
              <a:buClr>
                <a:schemeClr val="dk1"/>
              </a:buClr>
              <a:buSzPts val="2400"/>
              <a:buFont typeface="Calibri"/>
              <a:buAutoNum type="arabicPeriod"/>
            </a:pPr>
            <a:r>
              <a:rPr lang="es-VE" sz="2400">
                <a:solidFill>
                  <a:schemeClr val="dk1"/>
                </a:solidFill>
                <a:latin typeface="Calibri"/>
                <a:ea typeface="Calibri"/>
                <a:cs typeface="Calibri"/>
                <a:sym typeface="Calibri"/>
              </a:rPr>
              <a:t>Plan de Mantenimiento</a:t>
            </a:r>
            <a:endParaRPr sz="2400">
              <a:solidFill>
                <a:schemeClr val="dk1"/>
              </a:solidFill>
              <a:latin typeface="Calibri"/>
              <a:ea typeface="Calibri"/>
              <a:cs typeface="Calibri"/>
              <a:sym typeface="Calibri"/>
            </a:endParaRPr>
          </a:p>
          <a:p>
            <a:pPr indent="-539750" lvl="0" marL="539750" marR="0" rtl="0" algn="l">
              <a:spcBef>
                <a:spcPts val="0"/>
              </a:spcBef>
              <a:spcAft>
                <a:spcPts val="0"/>
              </a:spcAft>
              <a:buClr>
                <a:schemeClr val="dk1"/>
              </a:buClr>
              <a:buSzPts val="2400"/>
              <a:buFont typeface="Calibri"/>
              <a:buAutoNum type="arabicPeriod"/>
            </a:pPr>
            <a:r>
              <a:rPr lang="es-VE" sz="2400">
                <a:solidFill>
                  <a:schemeClr val="dk1"/>
                </a:solidFill>
                <a:latin typeface="Calibri"/>
                <a:ea typeface="Calibri"/>
                <a:cs typeface="Calibri"/>
                <a:sym typeface="Calibri"/>
              </a:rPr>
              <a:t>Conclusiones</a:t>
            </a:r>
            <a:endParaRPr sz="24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p:nvPr/>
        </p:nvSpPr>
        <p:spPr>
          <a:xfrm>
            <a:off x="0" y="0"/>
            <a:ext cx="12192000" cy="503434"/>
          </a:xfrm>
          <a:prstGeom prst="rect">
            <a:avLst/>
          </a:prstGeom>
          <a:solidFill>
            <a:srgbClr val="1E4E79"/>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PROYECTO FINAL</a:t>
            </a:r>
            <a:endParaRPr sz="2400">
              <a:solidFill>
                <a:schemeClr val="lt1"/>
              </a:solidFill>
              <a:latin typeface="Calibri"/>
              <a:ea typeface="Calibri"/>
              <a:cs typeface="Calibri"/>
              <a:sym typeface="Calibri"/>
            </a:endParaRPr>
          </a:p>
        </p:txBody>
      </p:sp>
      <p:sp>
        <p:nvSpPr>
          <p:cNvPr id="105" name="Google Shape;105;p3"/>
          <p:cNvSpPr/>
          <p:nvPr/>
        </p:nvSpPr>
        <p:spPr>
          <a:xfrm>
            <a:off x="0" y="503434"/>
            <a:ext cx="12192000" cy="554804"/>
          </a:xfrm>
          <a:prstGeom prst="rect">
            <a:avLst/>
          </a:prstGeom>
          <a:solidFill>
            <a:srgbClr val="2E75B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ENTRADA - PROCESOS - SALIDAS</a:t>
            </a:r>
            <a:endParaRPr sz="2400">
              <a:solidFill>
                <a:schemeClr val="lt1"/>
              </a:solidFill>
              <a:latin typeface="Calibri"/>
              <a:ea typeface="Calibri"/>
              <a:cs typeface="Calibri"/>
              <a:sym typeface="Calibri"/>
            </a:endParaRPr>
          </a:p>
        </p:txBody>
      </p:sp>
      <p:sp>
        <p:nvSpPr>
          <p:cNvPr id="106" name="Google Shape;106;p3"/>
          <p:cNvSpPr txBox="1"/>
          <p:nvPr/>
        </p:nvSpPr>
        <p:spPr>
          <a:xfrm>
            <a:off x="1206800" y="1460200"/>
            <a:ext cx="18219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VE" sz="2100"/>
              <a:t>ENTRADAS</a:t>
            </a:r>
            <a:endParaRPr b="1" sz="2100"/>
          </a:p>
        </p:txBody>
      </p:sp>
      <p:sp>
        <p:nvSpPr>
          <p:cNvPr id="107" name="Google Shape;107;p3"/>
          <p:cNvSpPr txBox="1"/>
          <p:nvPr/>
        </p:nvSpPr>
        <p:spPr>
          <a:xfrm>
            <a:off x="5163100" y="1517500"/>
            <a:ext cx="18219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VE" sz="2100"/>
              <a:t>PROCESOS</a:t>
            </a:r>
            <a:endParaRPr b="1" sz="2100"/>
          </a:p>
        </p:txBody>
      </p:sp>
      <p:sp>
        <p:nvSpPr>
          <p:cNvPr id="108" name="Google Shape;108;p3"/>
          <p:cNvSpPr txBox="1"/>
          <p:nvPr/>
        </p:nvSpPr>
        <p:spPr>
          <a:xfrm>
            <a:off x="9119400" y="1460200"/>
            <a:ext cx="13887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VE" sz="2100"/>
              <a:t>SALIDAS</a:t>
            </a:r>
            <a:endParaRPr b="1" sz="2100"/>
          </a:p>
        </p:txBody>
      </p:sp>
      <p:sp>
        <p:nvSpPr>
          <p:cNvPr id="109" name="Google Shape;109;p3"/>
          <p:cNvSpPr txBox="1"/>
          <p:nvPr/>
        </p:nvSpPr>
        <p:spPr>
          <a:xfrm>
            <a:off x="0" y="2079213"/>
            <a:ext cx="3393600" cy="20163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es-VE" sz="1700">
                <a:solidFill>
                  <a:schemeClr val="dk1"/>
                </a:solidFill>
              </a:rPr>
              <a:t>-Detalles de la Solicitud del Cliente: </a:t>
            </a:r>
            <a:endParaRPr b="1" sz="1700">
              <a:solidFill>
                <a:schemeClr val="dk1"/>
              </a:solidFill>
            </a:endParaRPr>
          </a:p>
          <a:p>
            <a:pPr indent="0" lvl="0" marL="457200" rtl="0" algn="l">
              <a:spcBef>
                <a:spcPts val="0"/>
              </a:spcBef>
              <a:spcAft>
                <a:spcPts val="0"/>
              </a:spcAft>
              <a:buNone/>
            </a:pPr>
            <a:r>
              <a:rPr lang="es-VE" sz="1700">
                <a:solidFill>
                  <a:schemeClr val="dk1"/>
                </a:solidFill>
              </a:rPr>
              <a:t>Datos del cliente interesado y sus requerimientos ( compra/alquiler, tipo de inmueble, presupuesto, zona). </a:t>
            </a:r>
            <a:endParaRPr sz="2000"/>
          </a:p>
        </p:txBody>
      </p:sp>
      <p:sp>
        <p:nvSpPr>
          <p:cNvPr id="110" name="Google Shape;110;p3"/>
          <p:cNvSpPr txBox="1"/>
          <p:nvPr/>
        </p:nvSpPr>
        <p:spPr>
          <a:xfrm>
            <a:off x="0" y="4206625"/>
            <a:ext cx="4633500" cy="20163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es-VE" sz="1700">
                <a:solidFill>
                  <a:schemeClr val="dk1"/>
                </a:solidFill>
              </a:rPr>
              <a:t>-Inmuebles para el Catálogo:</a:t>
            </a:r>
            <a:endParaRPr b="1" sz="1700">
              <a:solidFill>
                <a:schemeClr val="dk1"/>
              </a:solidFill>
            </a:endParaRPr>
          </a:p>
          <a:p>
            <a:pPr indent="0" lvl="0" marL="457200" rtl="0" algn="l">
              <a:spcBef>
                <a:spcPts val="0"/>
              </a:spcBef>
              <a:spcAft>
                <a:spcPts val="0"/>
              </a:spcAft>
              <a:buNone/>
            </a:pPr>
            <a:r>
              <a:rPr lang="es-VE" sz="1700">
                <a:solidFill>
                  <a:schemeClr val="dk1"/>
                </a:solidFill>
              </a:rPr>
              <a:t> registrar las nuevas propiedades que entran al inventario de la inmobiliaria, indicando características detalladas (ubicación, metros cuadrados, número de habitaciones/baños, precio, fotografías y asesor asignado). </a:t>
            </a:r>
            <a:endParaRPr sz="2600"/>
          </a:p>
        </p:txBody>
      </p:sp>
      <p:sp>
        <p:nvSpPr>
          <p:cNvPr id="111" name="Google Shape;111;p3"/>
          <p:cNvSpPr txBox="1"/>
          <p:nvPr/>
        </p:nvSpPr>
        <p:spPr>
          <a:xfrm>
            <a:off x="3878200" y="2023675"/>
            <a:ext cx="4391700" cy="21549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es-VE" sz="1600">
                <a:solidFill>
                  <a:schemeClr val="dk1"/>
                </a:solidFill>
              </a:rPr>
              <a:t>-Gestión del Catálogo y Transacciones:</a:t>
            </a:r>
            <a:endParaRPr b="1" sz="1600">
              <a:solidFill>
                <a:schemeClr val="dk1"/>
              </a:solidFill>
            </a:endParaRPr>
          </a:p>
          <a:p>
            <a:pPr indent="0" lvl="0" marL="457200" rtl="0" algn="l">
              <a:spcBef>
                <a:spcPts val="0"/>
              </a:spcBef>
              <a:spcAft>
                <a:spcPts val="0"/>
              </a:spcAft>
              <a:buNone/>
            </a:pPr>
            <a:r>
              <a:rPr lang="es-VE" sz="1600">
                <a:solidFill>
                  <a:schemeClr val="dk1"/>
                </a:solidFill>
              </a:rPr>
              <a:t>sistema vincula a los clientes potenciales con las propiedades disponibles. Cuando se concreta una operación (venta o alquiler), el sistema descuenta o cambia el estatus del inmueble y actualiza la visibilidad en la pagina web.</a:t>
            </a:r>
            <a:endParaRPr sz="1300"/>
          </a:p>
        </p:txBody>
      </p:sp>
      <p:sp>
        <p:nvSpPr>
          <p:cNvPr id="112" name="Google Shape;112;p3"/>
          <p:cNvSpPr txBox="1"/>
          <p:nvPr/>
        </p:nvSpPr>
        <p:spPr>
          <a:xfrm>
            <a:off x="4400625" y="4337425"/>
            <a:ext cx="3000000" cy="17547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es-VE" sz="1700">
                <a:solidFill>
                  <a:schemeClr val="dk1"/>
                </a:solidFill>
              </a:rPr>
              <a:t>-</a:t>
            </a:r>
            <a:r>
              <a:rPr b="1" lang="es-VE" sz="1700">
                <a:solidFill>
                  <a:schemeClr val="dk1"/>
                </a:solidFill>
              </a:rPr>
              <a:t>Cálculo de Ventas y Comisiones </a:t>
            </a:r>
            <a:r>
              <a:rPr b="1" lang="es-VE" sz="1700">
                <a:solidFill>
                  <a:schemeClr val="dk1"/>
                </a:solidFill>
              </a:rPr>
              <a:t>: </a:t>
            </a:r>
            <a:endParaRPr b="1" sz="1700">
              <a:solidFill>
                <a:schemeClr val="dk1"/>
              </a:solidFill>
            </a:endParaRPr>
          </a:p>
          <a:p>
            <a:pPr indent="0" lvl="0" marL="457200" rtl="0" algn="l">
              <a:spcBef>
                <a:spcPts val="0"/>
              </a:spcBef>
              <a:spcAft>
                <a:spcPts val="0"/>
              </a:spcAft>
              <a:buNone/>
            </a:pPr>
            <a:r>
              <a:rPr lang="es-VE" sz="1700">
                <a:solidFill>
                  <a:schemeClr val="dk1"/>
                </a:solidFill>
              </a:rPr>
              <a:t>el sistema podría procesar las los cierres de negociaciones y poder calcularlo</a:t>
            </a:r>
            <a:endParaRPr/>
          </a:p>
        </p:txBody>
      </p:sp>
      <p:sp>
        <p:nvSpPr>
          <p:cNvPr id="113" name="Google Shape;113;p3"/>
          <p:cNvSpPr txBox="1"/>
          <p:nvPr/>
        </p:nvSpPr>
        <p:spPr>
          <a:xfrm>
            <a:off x="8530350" y="2023675"/>
            <a:ext cx="3521400" cy="22779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Clr>
                <a:schemeClr val="dk1"/>
              </a:buClr>
              <a:buSzPts val="1100"/>
              <a:buFont typeface="Arial"/>
              <a:buNone/>
            </a:pPr>
            <a:r>
              <a:rPr b="1" lang="es-VE" sz="1700">
                <a:solidFill>
                  <a:schemeClr val="dk1"/>
                </a:solidFill>
              </a:rPr>
              <a:t>-Catálogo Inmobiliario Actualizado: </a:t>
            </a:r>
            <a:endParaRPr b="1" sz="1700">
              <a:solidFill>
                <a:schemeClr val="dk1"/>
              </a:solidFill>
            </a:endParaRPr>
          </a:p>
          <a:p>
            <a:pPr indent="0" lvl="0" marL="457200" rtl="0" algn="l">
              <a:spcBef>
                <a:spcPts val="0"/>
              </a:spcBef>
              <a:spcAft>
                <a:spcPts val="0"/>
              </a:spcAft>
              <a:buClr>
                <a:schemeClr val="dk1"/>
              </a:buClr>
              <a:buSzPts val="1100"/>
              <a:buFont typeface="Arial"/>
              <a:buNone/>
            </a:pPr>
            <a:r>
              <a:rPr lang="es-VE" sz="1700">
                <a:solidFill>
                  <a:schemeClr val="dk1"/>
                </a:solidFill>
              </a:rPr>
              <a:t>Reporte y vista pública en la página web que muestra únicamente las propiedades que están disponibles actualmente, con su información al día. </a:t>
            </a:r>
            <a:endParaRPr/>
          </a:p>
        </p:txBody>
      </p:sp>
      <p:sp>
        <p:nvSpPr>
          <p:cNvPr id="114" name="Google Shape;114;p3"/>
          <p:cNvSpPr txBox="1"/>
          <p:nvPr/>
        </p:nvSpPr>
        <p:spPr>
          <a:xfrm>
            <a:off x="8530350" y="4357150"/>
            <a:ext cx="3000000" cy="20163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es-VE" sz="1700">
                <a:solidFill>
                  <a:schemeClr val="dk1"/>
                </a:solidFill>
              </a:rPr>
              <a:t>-</a:t>
            </a:r>
            <a:r>
              <a:rPr b="1" lang="es-VE" sz="1700">
                <a:solidFill>
                  <a:schemeClr val="dk1"/>
                </a:solidFill>
              </a:rPr>
              <a:t>Reporte de Gestión y Ganancias </a:t>
            </a:r>
            <a:r>
              <a:rPr b="1" lang="es-VE" sz="1700">
                <a:solidFill>
                  <a:schemeClr val="dk1"/>
                </a:solidFill>
              </a:rPr>
              <a:t>: </a:t>
            </a:r>
            <a:endParaRPr b="1" sz="1700">
              <a:solidFill>
                <a:schemeClr val="dk1"/>
              </a:solidFill>
            </a:endParaRPr>
          </a:p>
          <a:p>
            <a:pPr indent="0" lvl="0" marL="457200" rtl="0" algn="l">
              <a:spcBef>
                <a:spcPts val="0"/>
              </a:spcBef>
              <a:spcAft>
                <a:spcPts val="0"/>
              </a:spcAft>
              <a:buNone/>
            </a:pPr>
            <a:r>
              <a:rPr lang="es-VE" sz="1700">
                <a:solidFill>
                  <a:schemeClr val="dk1"/>
                </a:solidFill>
              </a:rPr>
              <a:t>Informes internos sobre las ventas mensuales, ingresos por comisiones, rendimiento de asesores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4"/>
          <p:cNvSpPr/>
          <p:nvPr/>
        </p:nvSpPr>
        <p:spPr>
          <a:xfrm>
            <a:off x="0" y="0"/>
            <a:ext cx="12192000" cy="503434"/>
          </a:xfrm>
          <a:prstGeom prst="rect">
            <a:avLst/>
          </a:prstGeom>
          <a:solidFill>
            <a:srgbClr val="1E4E79"/>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PROYECTO FINAL</a:t>
            </a:r>
            <a:endParaRPr sz="2400">
              <a:solidFill>
                <a:schemeClr val="lt1"/>
              </a:solidFill>
              <a:latin typeface="Calibri"/>
              <a:ea typeface="Calibri"/>
              <a:cs typeface="Calibri"/>
              <a:sym typeface="Calibri"/>
            </a:endParaRPr>
          </a:p>
        </p:txBody>
      </p:sp>
      <p:sp>
        <p:nvSpPr>
          <p:cNvPr id="120" name="Google Shape;120;p4"/>
          <p:cNvSpPr/>
          <p:nvPr/>
        </p:nvSpPr>
        <p:spPr>
          <a:xfrm>
            <a:off x="0" y="503434"/>
            <a:ext cx="12192000" cy="554804"/>
          </a:xfrm>
          <a:prstGeom prst="rect">
            <a:avLst/>
          </a:prstGeom>
          <a:solidFill>
            <a:srgbClr val="2E75B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Ciclo de Vida</a:t>
            </a:r>
            <a:endParaRPr sz="2400">
              <a:solidFill>
                <a:schemeClr val="lt1"/>
              </a:solidFill>
              <a:latin typeface="Calibri"/>
              <a:ea typeface="Calibri"/>
              <a:cs typeface="Calibri"/>
              <a:sym typeface="Calibri"/>
            </a:endParaRPr>
          </a:p>
        </p:txBody>
      </p:sp>
      <p:sp>
        <p:nvSpPr>
          <p:cNvPr id="121" name="Google Shape;121;p4"/>
          <p:cNvSpPr txBox="1"/>
          <p:nvPr/>
        </p:nvSpPr>
        <p:spPr>
          <a:xfrm>
            <a:off x="4886100" y="1029825"/>
            <a:ext cx="2419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VE" sz="2000"/>
              <a:t>Llorens Fábregas</a:t>
            </a:r>
            <a:endParaRPr b="1" sz="2000"/>
          </a:p>
        </p:txBody>
      </p:sp>
      <p:sp>
        <p:nvSpPr>
          <p:cNvPr id="122" name="Google Shape;122;p4"/>
          <p:cNvSpPr txBox="1"/>
          <p:nvPr/>
        </p:nvSpPr>
        <p:spPr>
          <a:xfrm>
            <a:off x="-185000" y="1522425"/>
            <a:ext cx="12051300" cy="9696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es-VE" sz="1700">
                <a:solidFill>
                  <a:schemeClr val="dk1"/>
                </a:solidFill>
              </a:rPr>
              <a:t>-Fase I: Requisitos</a:t>
            </a:r>
            <a:endParaRPr b="1" sz="1700">
              <a:solidFill>
                <a:schemeClr val="dk1"/>
              </a:solidFill>
            </a:endParaRPr>
          </a:p>
          <a:p>
            <a:pPr indent="0" lvl="0" marL="457200" rtl="0" algn="l">
              <a:spcBef>
                <a:spcPts val="0"/>
              </a:spcBef>
              <a:spcAft>
                <a:spcPts val="0"/>
              </a:spcAft>
              <a:buNone/>
            </a:pPr>
            <a:r>
              <a:rPr lang="es-VE" sz="1700">
                <a:solidFill>
                  <a:schemeClr val="dk1"/>
                </a:solidFill>
              </a:rPr>
              <a:t>Consiste en recopilar y comprender a fondo las necesidades del cliente, documentando qué información entrará, cómo se procesará y qué resultados debe generar el sistema para asegurar que todos compartamos la misma visión. </a:t>
            </a:r>
            <a:endParaRPr/>
          </a:p>
        </p:txBody>
      </p:sp>
      <p:sp>
        <p:nvSpPr>
          <p:cNvPr id="123" name="Google Shape;123;p4"/>
          <p:cNvSpPr txBox="1"/>
          <p:nvPr/>
        </p:nvSpPr>
        <p:spPr>
          <a:xfrm>
            <a:off x="-185000" y="2492025"/>
            <a:ext cx="12051300" cy="9696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es-VE" sz="1700">
                <a:solidFill>
                  <a:schemeClr val="dk1"/>
                </a:solidFill>
              </a:rPr>
              <a:t>-Fase II Análisis y diseño</a:t>
            </a:r>
            <a:endParaRPr b="1" sz="1700">
              <a:solidFill>
                <a:schemeClr val="dk1"/>
              </a:solidFill>
            </a:endParaRPr>
          </a:p>
          <a:p>
            <a:pPr indent="0" lvl="0" marL="457200" rtl="0" algn="l">
              <a:spcBef>
                <a:spcPts val="0"/>
              </a:spcBef>
              <a:spcAft>
                <a:spcPts val="0"/>
              </a:spcAft>
              <a:buNone/>
            </a:pPr>
            <a:r>
              <a:rPr lang="es-VE" sz="1700">
                <a:solidFill>
                  <a:schemeClr val="dk1"/>
                </a:solidFill>
              </a:rPr>
              <a:t>Se define la arquitectura del software, se estructura cómo funcionarán las bases de datos y se diseñan las interfaces gráficas, estableciendo la guía técnica clara para programar. </a:t>
            </a:r>
            <a:endParaRPr/>
          </a:p>
        </p:txBody>
      </p:sp>
      <p:sp>
        <p:nvSpPr>
          <p:cNvPr id="124" name="Google Shape;124;p4"/>
          <p:cNvSpPr txBox="1"/>
          <p:nvPr/>
        </p:nvSpPr>
        <p:spPr>
          <a:xfrm>
            <a:off x="-185000" y="3461625"/>
            <a:ext cx="12051300" cy="9696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es-VE" sz="1700">
                <a:solidFill>
                  <a:schemeClr val="dk1"/>
                </a:solidFill>
              </a:rPr>
              <a:t>-Fase III Construcción:</a:t>
            </a:r>
            <a:endParaRPr b="1" sz="1700">
              <a:solidFill>
                <a:schemeClr val="dk1"/>
              </a:solidFill>
            </a:endParaRPr>
          </a:p>
          <a:p>
            <a:pPr indent="0" lvl="0" marL="457200" rtl="0" algn="l">
              <a:spcBef>
                <a:spcPts val="0"/>
              </a:spcBef>
              <a:spcAft>
                <a:spcPts val="0"/>
              </a:spcAft>
              <a:buClr>
                <a:schemeClr val="dk1"/>
              </a:buClr>
              <a:buSzPts val="1100"/>
              <a:buFont typeface="Arial"/>
              <a:buNone/>
            </a:pPr>
            <a:r>
              <a:rPr lang="es-VE" sz="1700">
                <a:solidFill>
                  <a:schemeClr val="dk1"/>
                </a:solidFill>
              </a:rPr>
              <a:t>Programación del sistema Implementando todas las funcionalidades definidas en la etapa de diseño.</a:t>
            </a:r>
            <a:endParaRPr sz="1700">
              <a:solidFill>
                <a:schemeClr val="dk1"/>
              </a:solidFill>
            </a:endParaRPr>
          </a:p>
          <a:p>
            <a:pPr indent="0" lvl="0" marL="457200" rtl="0" algn="l">
              <a:spcBef>
                <a:spcPts val="0"/>
              </a:spcBef>
              <a:spcAft>
                <a:spcPts val="0"/>
              </a:spcAft>
              <a:buNone/>
            </a:pPr>
            <a:r>
              <a:t/>
            </a:r>
            <a:endParaRPr sz="1700">
              <a:solidFill>
                <a:schemeClr val="dk1"/>
              </a:solidFill>
            </a:endParaRPr>
          </a:p>
        </p:txBody>
      </p:sp>
      <p:sp>
        <p:nvSpPr>
          <p:cNvPr id="125" name="Google Shape;125;p4"/>
          <p:cNvSpPr txBox="1"/>
          <p:nvPr/>
        </p:nvSpPr>
        <p:spPr>
          <a:xfrm>
            <a:off x="-185000" y="4431225"/>
            <a:ext cx="12051300" cy="9696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es-VE" sz="1700">
                <a:solidFill>
                  <a:schemeClr val="dk1"/>
                </a:solidFill>
              </a:rPr>
              <a:t>-Fase IV Pruebas:</a:t>
            </a:r>
            <a:endParaRPr b="1" sz="1700">
              <a:solidFill>
                <a:schemeClr val="dk1"/>
              </a:solidFill>
            </a:endParaRPr>
          </a:p>
          <a:p>
            <a:pPr indent="0" lvl="0" marL="457200" rtl="0" algn="l">
              <a:spcBef>
                <a:spcPts val="0"/>
              </a:spcBef>
              <a:spcAft>
                <a:spcPts val="0"/>
              </a:spcAft>
              <a:buNone/>
            </a:pPr>
            <a:r>
              <a:rPr lang="es-VE" sz="1700">
                <a:solidFill>
                  <a:schemeClr val="dk1"/>
                </a:solidFill>
              </a:rPr>
              <a:t>El software desarrollado se somete a una validación exhaustiva. El objetivo es buscar, identificar y corregir errores o fallos operativos para garantizar que el sistema sea estable y cumpla exactamente con lo prometido al cliente.</a:t>
            </a:r>
            <a:endParaRPr/>
          </a:p>
        </p:txBody>
      </p:sp>
      <p:sp>
        <p:nvSpPr>
          <p:cNvPr id="126" name="Google Shape;126;p4"/>
          <p:cNvSpPr txBox="1"/>
          <p:nvPr/>
        </p:nvSpPr>
        <p:spPr>
          <a:xfrm>
            <a:off x="-185000" y="5535575"/>
            <a:ext cx="12051300" cy="9696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rPr b="1" lang="es-VE" sz="1700">
                <a:solidFill>
                  <a:schemeClr val="dk1"/>
                </a:solidFill>
              </a:rPr>
              <a:t>-Fase V Producción y mantenimiento:</a:t>
            </a:r>
            <a:endParaRPr b="1" sz="1700">
              <a:solidFill>
                <a:schemeClr val="dk1"/>
              </a:solidFill>
            </a:endParaRPr>
          </a:p>
          <a:p>
            <a:pPr indent="0" lvl="0" marL="457200" rtl="0" algn="l">
              <a:spcBef>
                <a:spcPts val="0"/>
              </a:spcBef>
              <a:spcAft>
                <a:spcPts val="0"/>
              </a:spcAft>
              <a:buNone/>
            </a:pPr>
            <a:r>
              <a:rPr lang="es-VE" sz="1700">
                <a:solidFill>
                  <a:schemeClr val="dk1"/>
                </a:solidFill>
              </a:rPr>
              <a:t> </a:t>
            </a:r>
            <a:r>
              <a:rPr lang="es-VE" sz="1700">
                <a:solidFill>
                  <a:schemeClr val="dk1"/>
                </a:solidFill>
              </a:rPr>
              <a:t>El sistema se lanza al entorno real y se capacita a los usuarios finales para que comiencen a utilizarlo. A partir de aquí, inicia el soporte continuo para solucionar incidencias futuras o aplicar nuevas actualizaciones.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9"/>
          <p:cNvSpPr/>
          <p:nvPr/>
        </p:nvSpPr>
        <p:spPr>
          <a:xfrm>
            <a:off x="0" y="0"/>
            <a:ext cx="12192000" cy="503434"/>
          </a:xfrm>
          <a:prstGeom prst="rect">
            <a:avLst/>
          </a:prstGeom>
          <a:solidFill>
            <a:srgbClr val="1E4E79"/>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PROYECTO FINAL</a:t>
            </a:r>
            <a:endParaRPr sz="2400">
              <a:solidFill>
                <a:schemeClr val="lt1"/>
              </a:solidFill>
              <a:latin typeface="Calibri"/>
              <a:ea typeface="Calibri"/>
              <a:cs typeface="Calibri"/>
              <a:sym typeface="Calibri"/>
            </a:endParaRPr>
          </a:p>
        </p:txBody>
      </p:sp>
      <p:sp>
        <p:nvSpPr>
          <p:cNvPr id="132" name="Google Shape;132;p19"/>
          <p:cNvSpPr/>
          <p:nvPr/>
        </p:nvSpPr>
        <p:spPr>
          <a:xfrm>
            <a:off x="0" y="503434"/>
            <a:ext cx="12192000" cy="554804"/>
          </a:xfrm>
          <a:prstGeom prst="rect">
            <a:avLst/>
          </a:prstGeom>
          <a:solidFill>
            <a:srgbClr val="2E75B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ctr">
              <a:lnSpc>
                <a:spcPct val="115000"/>
              </a:lnSpc>
              <a:spcBef>
                <a:spcPts val="0"/>
              </a:spcBef>
              <a:spcAft>
                <a:spcPts val="0"/>
              </a:spcAft>
              <a:buSzPts val="1100"/>
              <a:buNone/>
            </a:pPr>
            <a:r>
              <a:rPr lang="es-VE" sz="2400">
                <a:solidFill>
                  <a:srgbClr val="FFFFFF"/>
                </a:solidFill>
                <a:latin typeface="Calibri"/>
                <a:ea typeface="Calibri"/>
                <a:cs typeface="Calibri"/>
                <a:sym typeface="Calibri"/>
              </a:rPr>
              <a:t>TECNOLOGÍAS Y HERRAMIENTAS DE DESARROLLO</a:t>
            </a:r>
            <a:endParaRPr sz="2400">
              <a:solidFill>
                <a:schemeClr val="lt1"/>
              </a:solidFill>
              <a:latin typeface="Calibri"/>
              <a:ea typeface="Calibri"/>
              <a:cs typeface="Calibri"/>
              <a:sym typeface="Calibri"/>
            </a:endParaRPr>
          </a:p>
        </p:txBody>
      </p:sp>
      <p:sp>
        <p:nvSpPr>
          <p:cNvPr id="133" name="Google Shape;133;p19"/>
          <p:cNvSpPr txBox="1"/>
          <p:nvPr/>
        </p:nvSpPr>
        <p:spPr>
          <a:xfrm>
            <a:off x="71275" y="1578225"/>
            <a:ext cx="5509500" cy="4316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VE" sz="1700">
                <a:solidFill>
                  <a:schemeClr val="dk1"/>
                </a:solidFill>
              </a:rPr>
              <a:t>Backend: </a:t>
            </a:r>
            <a:endParaRPr b="1" sz="1700">
              <a:solidFill>
                <a:schemeClr val="dk1"/>
              </a:solidFill>
            </a:endParaRPr>
          </a:p>
          <a:p>
            <a:pPr indent="0" lvl="0" marL="0" rtl="0" algn="l">
              <a:spcBef>
                <a:spcPts val="0"/>
              </a:spcBef>
              <a:spcAft>
                <a:spcPts val="0"/>
              </a:spcAft>
              <a:buNone/>
            </a:pPr>
            <a:r>
              <a:rPr b="1" lang="es-VE" sz="1700">
                <a:solidFill>
                  <a:schemeClr val="dk1"/>
                </a:solidFill>
              </a:rPr>
              <a:t>Python 3.9+</a:t>
            </a:r>
            <a:r>
              <a:rPr lang="es-VE" sz="1700">
                <a:solidFill>
                  <a:schemeClr val="dk1"/>
                </a:solidFill>
              </a:rPr>
              <a:t>, </a:t>
            </a:r>
            <a:r>
              <a:rPr b="1" lang="es-VE" sz="1700">
                <a:solidFill>
                  <a:schemeClr val="dk1"/>
                </a:solidFill>
              </a:rPr>
              <a:t>Flask</a:t>
            </a:r>
            <a:r>
              <a:rPr lang="es-VE" sz="1700">
                <a:solidFill>
                  <a:schemeClr val="dk1"/>
                </a:solidFill>
              </a:rPr>
              <a:t>, </a:t>
            </a:r>
            <a:r>
              <a:rPr b="1" lang="es-VE" sz="1700">
                <a:solidFill>
                  <a:schemeClr val="dk1"/>
                </a:solidFill>
              </a:rPr>
              <a:t>Jinja2</a:t>
            </a:r>
            <a:r>
              <a:rPr lang="es-VE" sz="1700">
                <a:solidFill>
                  <a:schemeClr val="dk1"/>
                </a:solidFill>
              </a:rPr>
              <a:t>, </a:t>
            </a:r>
            <a:r>
              <a:rPr b="1" lang="es-VE" sz="1700">
                <a:solidFill>
                  <a:schemeClr val="dk1"/>
                </a:solidFill>
              </a:rPr>
              <a:t>Flask-Login</a:t>
            </a:r>
            <a:r>
              <a:rPr lang="es-VE" sz="1700">
                <a:solidFill>
                  <a:schemeClr val="dk1"/>
                </a:solidFill>
              </a:rPr>
              <a:t>, </a:t>
            </a:r>
            <a:r>
              <a:rPr b="1" lang="es-VE" sz="1700">
                <a:solidFill>
                  <a:schemeClr val="dk1"/>
                </a:solidFill>
              </a:rPr>
              <a:t>Werkzeug</a:t>
            </a:r>
            <a:r>
              <a:rPr lang="es-VE" sz="1700">
                <a:solidFill>
                  <a:schemeClr val="dk1"/>
                </a:solidFill>
              </a:rPr>
              <a:t> </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spcBef>
                <a:spcPts val="0"/>
              </a:spcBef>
              <a:spcAft>
                <a:spcPts val="0"/>
              </a:spcAft>
              <a:buNone/>
            </a:pPr>
            <a:r>
              <a:t/>
            </a:r>
            <a:endParaRPr sz="1700">
              <a:solidFill>
                <a:schemeClr val="dk1"/>
              </a:solidFill>
            </a:endParaRPr>
          </a:p>
          <a:p>
            <a:pPr indent="0" lvl="0" marL="0" rtl="0" algn="l">
              <a:lnSpc>
                <a:spcPct val="115000"/>
              </a:lnSpc>
              <a:spcBef>
                <a:spcPts val="0"/>
              </a:spcBef>
              <a:spcAft>
                <a:spcPts val="0"/>
              </a:spcAft>
              <a:buNone/>
            </a:pPr>
            <a:r>
              <a:rPr b="1" lang="es-VE" sz="1700">
                <a:solidFill>
                  <a:schemeClr val="dk1"/>
                </a:solidFill>
              </a:rPr>
              <a:t>Frontend:</a:t>
            </a:r>
            <a:endParaRPr b="1" sz="1700">
              <a:solidFill>
                <a:schemeClr val="dk1"/>
              </a:solidFill>
            </a:endParaRPr>
          </a:p>
          <a:p>
            <a:pPr indent="0" lvl="0" marL="0" rtl="0" algn="l">
              <a:lnSpc>
                <a:spcPct val="115000"/>
              </a:lnSpc>
              <a:spcBef>
                <a:spcPts val="0"/>
              </a:spcBef>
              <a:spcAft>
                <a:spcPts val="0"/>
              </a:spcAft>
              <a:buNone/>
            </a:pPr>
            <a:r>
              <a:rPr b="1" lang="es-VE" sz="1700">
                <a:solidFill>
                  <a:schemeClr val="dk1"/>
                </a:solidFill>
              </a:rPr>
              <a:t>HTML5</a:t>
            </a:r>
            <a:r>
              <a:rPr lang="es-VE" sz="1700">
                <a:solidFill>
                  <a:schemeClr val="dk1"/>
                </a:solidFill>
              </a:rPr>
              <a:t>, </a:t>
            </a:r>
            <a:r>
              <a:rPr b="1" lang="es-VE" sz="1700">
                <a:solidFill>
                  <a:schemeClr val="dk1"/>
                </a:solidFill>
              </a:rPr>
              <a:t>CSS3</a:t>
            </a:r>
            <a:r>
              <a:rPr lang="es-VE" sz="1700">
                <a:solidFill>
                  <a:schemeClr val="dk1"/>
                </a:solidFill>
              </a:rPr>
              <a:t>, </a:t>
            </a:r>
            <a:r>
              <a:rPr b="1" lang="es-VE" sz="1700">
                <a:solidFill>
                  <a:schemeClr val="dk1"/>
                </a:solidFill>
              </a:rPr>
              <a:t>Bootstrap 5</a:t>
            </a:r>
            <a:endParaRPr b="1" sz="1700">
              <a:solidFill>
                <a:schemeClr val="dk1"/>
              </a:solidFill>
            </a:endParaRPr>
          </a:p>
          <a:p>
            <a:pPr indent="0" lvl="0" marL="0" rtl="0" algn="l">
              <a:lnSpc>
                <a:spcPct val="115000"/>
              </a:lnSpc>
              <a:spcBef>
                <a:spcPts val="0"/>
              </a:spcBef>
              <a:spcAft>
                <a:spcPts val="0"/>
              </a:spcAft>
              <a:buNone/>
            </a:pPr>
            <a:r>
              <a:t/>
            </a:r>
            <a:endParaRPr sz="1700">
              <a:solidFill>
                <a:schemeClr val="dk1"/>
              </a:solidFill>
            </a:endParaRPr>
          </a:p>
          <a:p>
            <a:pPr indent="0" lvl="0" marL="0" rtl="0" algn="l">
              <a:lnSpc>
                <a:spcPct val="115000"/>
              </a:lnSpc>
              <a:spcBef>
                <a:spcPts val="0"/>
              </a:spcBef>
              <a:spcAft>
                <a:spcPts val="0"/>
              </a:spcAft>
              <a:buNone/>
            </a:pPr>
            <a:r>
              <a:rPr b="1" lang="es-VE" sz="1700">
                <a:solidFill>
                  <a:schemeClr val="dk1"/>
                </a:solidFill>
              </a:rPr>
              <a:t>Base de Datos:</a:t>
            </a:r>
            <a:r>
              <a:rPr lang="es-VE" sz="1700">
                <a:solidFill>
                  <a:schemeClr val="dk1"/>
                </a:solidFill>
              </a:rPr>
              <a:t> </a:t>
            </a:r>
            <a:endParaRPr sz="1700">
              <a:solidFill>
                <a:schemeClr val="dk1"/>
              </a:solidFill>
            </a:endParaRPr>
          </a:p>
          <a:p>
            <a:pPr indent="0" lvl="0" marL="0" rtl="0" algn="l">
              <a:lnSpc>
                <a:spcPct val="115000"/>
              </a:lnSpc>
              <a:spcBef>
                <a:spcPts val="0"/>
              </a:spcBef>
              <a:spcAft>
                <a:spcPts val="0"/>
              </a:spcAft>
              <a:buNone/>
            </a:pPr>
            <a:r>
              <a:rPr b="1" lang="es-VE" sz="1700">
                <a:solidFill>
                  <a:schemeClr val="dk1"/>
                </a:solidFill>
              </a:rPr>
              <a:t>SQLite</a:t>
            </a:r>
            <a:r>
              <a:rPr lang="es-VE" sz="1700">
                <a:solidFill>
                  <a:schemeClr val="dk1"/>
                </a:solidFill>
              </a:rPr>
              <a:t> , </a:t>
            </a:r>
            <a:r>
              <a:rPr b="1" lang="es-VE" sz="1700">
                <a:solidFill>
                  <a:schemeClr val="dk1"/>
                </a:solidFill>
              </a:rPr>
              <a:t>MySQL</a:t>
            </a:r>
            <a:r>
              <a:rPr lang="es-VE" sz="1700">
                <a:solidFill>
                  <a:schemeClr val="dk1"/>
                </a:solidFill>
              </a:rPr>
              <a:t> , </a:t>
            </a:r>
            <a:r>
              <a:rPr b="1" lang="es-VE" sz="1700">
                <a:solidFill>
                  <a:schemeClr val="dk1"/>
                </a:solidFill>
              </a:rPr>
              <a:t>Flask-SQLAlchemy</a:t>
            </a:r>
            <a:r>
              <a:rPr lang="es-VE" sz="1700">
                <a:solidFill>
                  <a:schemeClr val="dk1"/>
                </a:solidFill>
              </a:rPr>
              <a:t>.</a:t>
            </a:r>
            <a:endParaRPr sz="1700">
              <a:solidFill>
                <a:schemeClr val="dk1"/>
              </a:solidFill>
            </a:endParaRPr>
          </a:p>
          <a:p>
            <a:pPr indent="0" lvl="0" marL="0" rtl="0" algn="l">
              <a:lnSpc>
                <a:spcPct val="115000"/>
              </a:lnSpc>
              <a:spcBef>
                <a:spcPts val="1200"/>
              </a:spcBef>
              <a:spcAft>
                <a:spcPts val="0"/>
              </a:spcAft>
              <a:buNone/>
            </a:pPr>
            <a:r>
              <a:t/>
            </a:r>
            <a:endParaRPr sz="1700">
              <a:solidFill>
                <a:schemeClr val="dk1"/>
              </a:solidFill>
            </a:endParaRPr>
          </a:p>
          <a:p>
            <a:pPr indent="0" lvl="0" marL="0" rtl="0" algn="l">
              <a:lnSpc>
                <a:spcPct val="115000"/>
              </a:lnSpc>
              <a:spcBef>
                <a:spcPts val="1200"/>
              </a:spcBef>
              <a:spcAft>
                <a:spcPts val="0"/>
              </a:spcAft>
              <a:buNone/>
            </a:pPr>
            <a:r>
              <a:rPr b="1" lang="es-VE" sz="1700">
                <a:solidFill>
                  <a:schemeClr val="dk1"/>
                </a:solidFill>
              </a:rPr>
              <a:t>Herramientas de Desarrollo:</a:t>
            </a:r>
            <a:endParaRPr b="1" sz="1700">
              <a:solidFill>
                <a:schemeClr val="dk1"/>
              </a:solidFill>
            </a:endParaRPr>
          </a:p>
          <a:p>
            <a:pPr indent="0" lvl="0" marL="0" rtl="0" algn="l">
              <a:lnSpc>
                <a:spcPct val="115000"/>
              </a:lnSpc>
              <a:spcBef>
                <a:spcPts val="0"/>
              </a:spcBef>
              <a:spcAft>
                <a:spcPts val="0"/>
              </a:spcAft>
              <a:buNone/>
            </a:pPr>
            <a:r>
              <a:rPr b="1" lang="es-VE" sz="1700">
                <a:solidFill>
                  <a:schemeClr val="dk1"/>
                </a:solidFill>
              </a:rPr>
              <a:t>Visual Studio Code</a:t>
            </a:r>
            <a:r>
              <a:rPr lang="es-VE" sz="1700">
                <a:solidFill>
                  <a:schemeClr val="dk1"/>
                </a:solidFill>
              </a:rPr>
              <a:t>, </a:t>
            </a:r>
            <a:r>
              <a:rPr b="1" lang="es-VE" sz="1700">
                <a:solidFill>
                  <a:schemeClr val="dk1"/>
                </a:solidFill>
              </a:rPr>
              <a:t>Git</a:t>
            </a:r>
            <a:r>
              <a:rPr lang="es-VE" sz="1700">
                <a:solidFill>
                  <a:schemeClr val="dk1"/>
                </a:solidFill>
              </a:rPr>
              <a:t>, </a:t>
            </a:r>
            <a:r>
              <a:rPr b="1" lang="es-VE" sz="1700">
                <a:solidFill>
                  <a:schemeClr val="dk1"/>
                </a:solidFill>
              </a:rPr>
              <a:t>GitHub</a:t>
            </a:r>
            <a:r>
              <a:rPr lang="es-VE" sz="1700">
                <a:solidFill>
                  <a:schemeClr val="dk1"/>
                </a:solidFill>
              </a:rPr>
              <a:t>.</a:t>
            </a:r>
            <a:endParaRPr sz="1700">
              <a:solidFill>
                <a:schemeClr val="dk1"/>
              </a:solidFill>
            </a:endParaRPr>
          </a:p>
          <a:p>
            <a:pPr indent="0" lvl="0" marL="0" rtl="0" algn="l">
              <a:spcBef>
                <a:spcPts val="1200"/>
              </a:spcBef>
              <a:spcAft>
                <a:spcPts val="0"/>
              </a:spcAft>
              <a:buNone/>
            </a:pPr>
            <a:r>
              <a:t/>
            </a:r>
            <a:endParaRPr>
              <a:solidFill>
                <a:schemeClr val="dk1"/>
              </a:solidFill>
            </a:endParaRPr>
          </a:p>
        </p:txBody>
      </p:sp>
      <p:pic>
        <p:nvPicPr>
          <p:cNvPr id="134" name="Google Shape;134;p19"/>
          <p:cNvPicPr preferRelativeResize="0"/>
          <p:nvPr/>
        </p:nvPicPr>
        <p:blipFill>
          <a:blip r:embed="rId3">
            <a:alphaModFix/>
          </a:blip>
          <a:stretch>
            <a:fillRect/>
          </a:stretch>
        </p:blipFill>
        <p:spPr>
          <a:xfrm>
            <a:off x="6012275" y="1117588"/>
            <a:ext cx="1400175" cy="1390650"/>
          </a:xfrm>
          <a:prstGeom prst="rect">
            <a:avLst/>
          </a:prstGeom>
          <a:noFill/>
          <a:ln>
            <a:noFill/>
          </a:ln>
        </p:spPr>
      </p:pic>
      <p:pic>
        <p:nvPicPr>
          <p:cNvPr id="135" name="Google Shape;135;p19"/>
          <p:cNvPicPr preferRelativeResize="0"/>
          <p:nvPr/>
        </p:nvPicPr>
        <p:blipFill>
          <a:blip r:embed="rId4">
            <a:alphaModFix/>
          </a:blip>
          <a:stretch>
            <a:fillRect/>
          </a:stretch>
        </p:blipFill>
        <p:spPr>
          <a:xfrm>
            <a:off x="9518575" y="1050088"/>
            <a:ext cx="1314450" cy="1314450"/>
          </a:xfrm>
          <a:prstGeom prst="rect">
            <a:avLst/>
          </a:prstGeom>
          <a:noFill/>
          <a:ln>
            <a:noFill/>
          </a:ln>
        </p:spPr>
      </p:pic>
      <p:pic>
        <p:nvPicPr>
          <p:cNvPr id="136" name="Google Shape;136;p19"/>
          <p:cNvPicPr preferRelativeResize="0"/>
          <p:nvPr/>
        </p:nvPicPr>
        <p:blipFill>
          <a:blip r:embed="rId5">
            <a:alphaModFix/>
          </a:blip>
          <a:stretch>
            <a:fillRect/>
          </a:stretch>
        </p:blipFill>
        <p:spPr>
          <a:xfrm>
            <a:off x="7208425" y="2734963"/>
            <a:ext cx="1219200" cy="1200150"/>
          </a:xfrm>
          <a:prstGeom prst="rect">
            <a:avLst/>
          </a:prstGeom>
          <a:noFill/>
          <a:ln>
            <a:noFill/>
          </a:ln>
        </p:spPr>
      </p:pic>
      <p:pic>
        <p:nvPicPr>
          <p:cNvPr id="137" name="Google Shape;137;p19"/>
          <p:cNvPicPr preferRelativeResize="0"/>
          <p:nvPr/>
        </p:nvPicPr>
        <p:blipFill>
          <a:blip r:embed="rId6">
            <a:alphaModFix/>
          </a:blip>
          <a:stretch>
            <a:fillRect/>
          </a:stretch>
        </p:blipFill>
        <p:spPr>
          <a:xfrm>
            <a:off x="8923150" y="2734976"/>
            <a:ext cx="2000250" cy="1200150"/>
          </a:xfrm>
          <a:prstGeom prst="rect">
            <a:avLst/>
          </a:prstGeom>
          <a:noFill/>
          <a:ln>
            <a:noFill/>
          </a:ln>
        </p:spPr>
      </p:pic>
      <p:pic>
        <p:nvPicPr>
          <p:cNvPr id="138" name="Google Shape;138;p19"/>
          <p:cNvPicPr preferRelativeResize="0"/>
          <p:nvPr/>
        </p:nvPicPr>
        <p:blipFill>
          <a:blip r:embed="rId7">
            <a:alphaModFix/>
          </a:blip>
          <a:stretch>
            <a:fillRect/>
          </a:stretch>
        </p:blipFill>
        <p:spPr>
          <a:xfrm>
            <a:off x="5334900" y="3667649"/>
            <a:ext cx="1940799" cy="1314450"/>
          </a:xfrm>
          <a:prstGeom prst="rect">
            <a:avLst/>
          </a:prstGeom>
          <a:noFill/>
          <a:ln>
            <a:noFill/>
          </a:ln>
        </p:spPr>
      </p:pic>
      <p:pic>
        <p:nvPicPr>
          <p:cNvPr id="139" name="Google Shape;139;p19"/>
          <p:cNvPicPr preferRelativeResize="0"/>
          <p:nvPr/>
        </p:nvPicPr>
        <p:blipFill>
          <a:blip r:embed="rId8">
            <a:alphaModFix/>
          </a:blip>
          <a:stretch>
            <a:fillRect/>
          </a:stretch>
        </p:blipFill>
        <p:spPr>
          <a:xfrm>
            <a:off x="7840099" y="4982088"/>
            <a:ext cx="1143000" cy="1171575"/>
          </a:xfrm>
          <a:prstGeom prst="rect">
            <a:avLst/>
          </a:prstGeom>
          <a:noFill/>
          <a:ln>
            <a:noFill/>
          </a:ln>
        </p:spPr>
      </p:pic>
      <p:pic>
        <p:nvPicPr>
          <p:cNvPr id="140" name="Google Shape;140;p19"/>
          <p:cNvPicPr preferRelativeResize="0"/>
          <p:nvPr/>
        </p:nvPicPr>
        <p:blipFill>
          <a:blip r:embed="rId9">
            <a:alphaModFix/>
          </a:blip>
          <a:stretch>
            <a:fillRect/>
          </a:stretch>
        </p:blipFill>
        <p:spPr>
          <a:xfrm>
            <a:off x="10132175" y="4493438"/>
            <a:ext cx="1314450" cy="1247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5"/>
          <p:cNvSpPr/>
          <p:nvPr/>
        </p:nvSpPr>
        <p:spPr>
          <a:xfrm>
            <a:off x="0" y="0"/>
            <a:ext cx="12192000" cy="503434"/>
          </a:xfrm>
          <a:prstGeom prst="rect">
            <a:avLst/>
          </a:prstGeom>
          <a:solidFill>
            <a:srgbClr val="1E4E79"/>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PROYECTO FINAL</a:t>
            </a:r>
            <a:endParaRPr sz="2400">
              <a:solidFill>
                <a:schemeClr val="lt1"/>
              </a:solidFill>
              <a:latin typeface="Calibri"/>
              <a:ea typeface="Calibri"/>
              <a:cs typeface="Calibri"/>
              <a:sym typeface="Calibri"/>
            </a:endParaRPr>
          </a:p>
        </p:txBody>
      </p:sp>
      <p:sp>
        <p:nvSpPr>
          <p:cNvPr id="146" name="Google Shape;146;p5"/>
          <p:cNvSpPr/>
          <p:nvPr/>
        </p:nvSpPr>
        <p:spPr>
          <a:xfrm>
            <a:off x="0" y="503434"/>
            <a:ext cx="12192000" cy="554700"/>
          </a:xfrm>
          <a:prstGeom prst="rect">
            <a:avLst/>
          </a:prstGeom>
          <a:solidFill>
            <a:srgbClr val="2E75B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Diagrama de Flujo de Datos (DFD) 0</a:t>
            </a:r>
            <a:endParaRPr sz="2400">
              <a:solidFill>
                <a:schemeClr val="lt1"/>
              </a:solidFill>
              <a:latin typeface="Calibri"/>
              <a:ea typeface="Calibri"/>
              <a:cs typeface="Calibri"/>
              <a:sym typeface="Calibri"/>
            </a:endParaRPr>
          </a:p>
        </p:txBody>
      </p:sp>
      <p:pic>
        <p:nvPicPr>
          <p:cNvPr id="147" name="Google Shape;147;p5"/>
          <p:cNvPicPr preferRelativeResize="0"/>
          <p:nvPr/>
        </p:nvPicPr>
        <p:blipFill>
          <a:blip r:embed="rId3">
            <a:alphaModFix/>
          </a:blip>
          <a:stretch>
            <a:fillRect/>
          </a:stretch>
        </p:blipFill>
        <p:spPr>
          <a:xfrm>
            <a:off x="2144350" y="1058124"/>
            <a:ext cx="7772724" cy="5884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6"/>
          <p:cNvSpPr/>
          <p:nvPr/>
        </p:nvSpPr>
        <p:spPr>
          <a:xfrm>
            <a:off x="0" y="0"/>
            <a:ext cx="12192000" cy="503434"/>
          </a:xfrm>
          <a:prstGeom prst="rect">
            <a:avLst/>
          </a:prstGeom>
          <a:solidFill>
            <a:srgbClr val="1E4E79"/>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PROYECTO FINAL</a:t>
            </a:r>
            <a:endParaRPr sz="2400">
              <a:solidFill>
                <a:schemeClr val="lt1"/>
              </a:solidFill>
              <a:latin typeface="Calibri"/>
              <a:ea typeface="Calibri"/>
              <a:cs typeface="Calibri"/>
              <a:sym typeface="Calibri"/>
            </a:endParaRPr>
          </a:p>
        </p:txBody>
      </p:sp>
      <p:sp>
        <p:nvSpPr>
          <p:cNvPr id="153" name="Google Shape;153;p6"/>
          <p:cNvSpPr/>
          <p:nvPr/>
        </p:nvSpPr>
        <p:spPr>
          <a:xfrm>
            <a:off x="0" y="503434"/>
            <a:ext cx="12192000" cy="554804"/>
          </a:xfrm>
          <a:prstGeom prst="rect">
            <a:avLst/>
          </a:prstGeom>
          <a:solidFill>
            <a:srgbClr val="2E75B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lang="es-VE" sz="2400">
                <a:solidFill>
                  <a:schemeClr val="lt1"/>
                </a:solidFill>
                <a:latin typeface="Calibri"/>
                <a:ea typeface="Calibri"/>
                <a:cs typeface="Calibri"/>
                <a:sym typeface="Calibri"/>
              </a:rPr>
              <a:t>Diagrama de Flujo de Datos (DFD) 1</a:t>
            </a:r>
            <a:endParaRPr sz="2400">
              <a:solidFill>
                <a:schemeClr val="lt1"/>
              </a:solidFill>
              <a:latin typeface="Calibri"/>
              <a:ea typeface="Calibri"/>
              <a:cs typeface="Calibri"/>
              <a:sym typeface="Calibri"/>
            </a:endParaRPr>
          </a:p>
        </p:txBody>
      </p:sp>
      <p:pic>
        <p:nvPicPr>
          <p:cNvPr id="154" name="Google Shape;154;p6"/>
          <p:cNvPicPr preferRelativeResize="0"/>
          <p:nvPr/>
        </p:nvPicPr>
        <p:blipFill>
          <a:blip r:embed="rId3">
            <a:alphaModFix/>
          </a:blip>
          <a:stretch>
            <a:fillRect/>
          </a:stretch>
        </p:blipFill>
        <p:spPr>
          <a:xfrm>
            <a:off x="0" y="1332700"/>
            <a:ext cx="12191999" cy="50373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a89748b34d_0_3"/>
          <p:cNvSpPr/>
          <p:nvPr/>
        </p:nvSpPr>
        <p:spPr>
          <a:xfrm>
            <a:off x="0" y="0"/>
            <a:ext cx="12192000" cy="503400"/>
          </a:xfrm>
          <a:prstGeom prst="rect">
            <a:avLst/>
          </a:prstGeom>
          <a:solidFill>
            <a:srgbClr val="1E4E79"/>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PROYECTO FINAL</a:t>
            </a:r>
            <a:endParaRPr sz="2400">
              <a:solidFill>
                <a:schemeClr val="lt1"/>
              </a:solidFill>
              <a:latin typeface="Calibri"/>
              <a:ea typeface="Calibri"/>
              <a:cs typeface="Calibri"/>
              <a:sym typeface="Calibri"/>
            </a:endParaRPr>
          </a:p>
        </p:txBody>
      </p:sp>
      <p:sp>
        <p:nvSpPr>
          <p:cNvPr id="160" name="Google Shape;160;g3a89748b34d_0_3"/>
          <p:cNvSpPr/>
          <p:nvPr/>
        </p:nvSpPr>
        <p:spPr>
          <a:xfrm>
            <a:off x="0" y="503434"/>
            <a:ext cx="12192000" cy="554700"/>
          </a:xfrm>
          <a:prstGeom prst="rect">
            <a:avLst/>
          </a:prstGeom>
          <a:solidFill>
            <a:srgbClr val="2E75B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rPr lang="es-VE" sz="2400">
                <a:solidFill>
                  <a:schemeClr val="lt1"/>
                </a:solidFill>
                <a:latin typeface="Calibri"/>
                <a:ea typeface="Calibri"/>
                <a:cs typeface="Calibri"/>
                <a:sym typeface="Calibri"/>
              </a:rPr>
              <a:t>Diagrama de Flujo de Datos 2 (DFD)  </a:t>
            </a:r>
            <a:r>
              <a:rPr lang="es-VE" sz="2400">
                <a:solidFill>
                  <a:schemeClr val="lt1"/>
                </a:solidFill>
                <a:latin typeface="Calibri"/>
                <a:ea typeface="Calibri"/>
                <a:cs typeface="Calibri"/>
                <a:sym typeface="Calibri"/>
              </a:rPr>
              <a:t>MÓDULO: Gestión de Inmuebles</a:t>
            </a:r>
            <a:endParaRPr sz="2400">
              <a:solidFill>
                <a:schemeClr val="lt1"/>
              </a:solidFill>
              <a:latin typeface="Calibri"/>
              <a:ea typeface="Calibri"/>
              <a:cs typeface="Calibri"/>
              <a:sym typeface="Calibri"/>
            </a:endParaRPr>
          </a:p>
        </p:txBody>
      </p:sp>
      <p:pic>
        <p:nvPicPr>
          <p:cNvPr id="161" name="Google Shape;161;g3a89748b34d_0_3" title="DFD2 MODULO 1.png"/>
          <p:cNvPicPr preferRelativeResize="0"/>
          <p:nvPr/>
        </p:nvPicPr>
        <p:blipFill>
          <a:blip r:embed="rId3">
            <a:alphaModFix/>
          </a:blip>
          <a:stretch>
            <a:fillRect/>
          </a:stretch>
        </p:blipFill>
        <p:spPr>
          <a:xfrm>
            <a:off x="0" y="1222650"/>
            <a:ext cx="12192001" cy="54237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a89748b34d_0_9"/>
          <p:cNvSpPr/>
          <p:nvPr/>
        </p:nvSpPr>
        <p:spPr>
          <a:xfrm>
            <a:off x="0" y="0"/>
            <a:ext cx="12192000" cy="503400"/>
          </a:xfrm>
          <a:prstGeom prst="rect">
            <a:avLst/>
          </a:prstGeom>
          <a:solidFill>
            <a:srgbClr val="1E4E79"/>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PROYECTO FINAL</a:t>
            </a:r>
            <a:endParaRPr sz="2400">
              <a:solidFill>
                <a:schemeClr val="lt1"/>
              </a:solidFill>
              <a:latin typeface="Calibri"/>
              <a:ea typeface="Calibri"/>
              <a:cs typeface="Calibri"/>
              <a:sym typeface="Calibri"/>
            </a:endParaRPr>
          </a:p>
        </p:txBody>
      </p:sp>
      <p:sp>
        <p:nvSpPr>
          <p:cNvPr id="167" name="Google Shape;167;g3a89748b34d_0_9"/>
          <p:cNvSpPr/>
          <p:nvPr/>
        </p:nvSpPr>
        <p:spPr>
          <a:xfrm>
            <a:off x="0" y="503434"/>
            <a:ext cx="12192000" cy="554700"/>
          </a:xfrm>
          <a:prstGeom prst="rect">
            <a:avLst/>
          </a:prstGeom>
          <a:solidFill>
            <a:srgbClr val="2E75B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rPr lang="es-VE" sz="2400">
                <a:solidFill>
                  <a:schemeClr val="lt1"/>
                </a:solidFill>
                <a:latin typeface="Calibri"/>
                <a:ea typeface="Calibri"/>
                <a:cs typeface="Calibri"/>
                <a:sym typeface="Calibri"/>
              </a:rPr>
              <a:t>Diagrama de Flujo de Datos </a:t>
            </a:r>
            <a:r>
              <a:rPr lang="es-VE" sz="2400">
                <a:solidFill>
                  <a:schemeClr val="lt1"/>
                </a:solidFill>
                <a:latin typeface="Calibri"/>
                <a:ea typeface="Calibri"/>
                <a:cs typeface="Calibri"/>
                <a:sym typeface="Calibri"/>
              </a:rPr>
              <a:t>2 </a:t>
            </a:r>
            <a:r>
              <a:rPr lang="es-VE" sz="2400">
                <a:solidFill>
                  <a:schemeClr val="lt1"/>
                </a:solidFill>
                <a:latin typeface="Calibri"/>
                <a:ea typeface="Calibri"/>
                <a:cs typeface="Calibri"/>
                <a:sym typeface="Calibri"/>
              </a:rPr>
              <a:t>(DFD) </a:t>
            </a:r>
            <a:r>
              <a:rPr lang="es-VE" sz="2400">
                <a:solidFill>
                  <a:schemeClr val="lt1"/>
                </a:solidFill>
                <a:latin typeface="Calibri"/>
                <a:ea typeface="Calibri"/>
                <a:cs typeface="Calibri"/>
                <a:sym typeface="Calibri"/>
              </a:rPr>
              <a:t>MÓDULO</a:t>
            </a:r>
            <a:r>
              <a:rPr lang="es-VE" sz="2400">
                <a:solidFill>
                  <a:schemeClr val="lt1"/>
                </a:solidFill>
                <a:latin typeface="Calibri"/>
                <a:ea typeface="Calibri"/>
                <a:cs typeface="Calibri"/>
                <a:sym typeface="Calibri"/>
              </a:rPr>
              <a:t> CRM</a:t>
            </a:r>
            <a:endParaRPr sz="2400">
              <a:solidFill>
                <a:schemeClr val="lt1"/>
              </a:solidFill>
              <a:latin typeface="Calibri"/>
              <a:ea typeface="Calibri"/>
              <a:cs typeface="Calibri"/>
              <a:sym typeface="Calibri"/>
            </a:endParaRPr>
          </a:p>
        </p:txBody>
      </p:sp>
      <p:pic>
        <p:nvPicPr>
          <p:cNvPr id="168" name="Google Shape;168;g3a89748b34d_0_9" title="DFD2 MODULO 2.png"/>
          <p:cNvPicPr preferRelativeResize="0"/>
          <p:nvPr/>
        </p:nvPicPr>
        <p:blipFill>
          <a:blip r:embed="rId3">
            <a:alphaModFix/>
          </a:blip>
          <a:stretch>
            <a:fillRect/>
          </a:stretch>
        </p:blipFill>
        <p:spPr>
          <a:xfrm>
            <a:off x="2321250" y="1058125"/>
            <a:ext cx="6541850" cy="57998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a89748b34d_0_15"/>
          <p:cNvSpPr/>
          <p:nvPr/>
        </p:nvSpPr>
        <p:spPr>
          <a:xfrm>
            <a:off x="0" y="0"/>
            <a:ext cx="12192000" cy="503400"/>
          </a:xfrm>
          <a:prstGeom prst="rect">
            <a:avLst/>
          </a:prstGeom>
          <a:solidFill>
            <a:srgbClr val="1E4E79"/>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PROYECTO FINAL</a:t>
            </a:r>
            <a:endParaRPr sz="2400">
              <a:solidFill>
                <a:schemeClr val="lt1"/>
              </a:solidFill>
              <a:latin typeface="Calibri"/>
              <a:ea typeface="Calibri"/>
              <a:cs typeface="Calibri"/>
              <a:sym typeface="Calibri"/>
            </a:endParaRPr>
          </a:p>
        </p:txBody>
      </p:sp>
      <p:sp>
        <p:nvSpPr>
          <p:cNvPr id="174" name="Google Shape;174;g3a89748b34d_0_15"/>
          <p:cNvSpPr/>
          <p:nvPr/>
        </p:nvSpPr>
        <p:spPr>
          <a:xfrm>
            <a:off x="0" y="503434"/>
            <a:ext cx="12192000" cy="554700"/>
          </a:xfrm>
          <a:prstGeom prst="rect">
            <a:avLst/>
          </a:prstGeom>
          <a:solidFill>
            <a:srgbClr val="2E75B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rPr lang="es-VE" sz="2400">
                <a:solidFill>
                  <a:schemeClr val="lt1"/>
                </a:solidFill>
                <a:latin typeface="Calibri"/>
                <a:ea typeface="Calibri"/>
                <a:cs typeface="Calibri"/>
                <a:sym typeface="Calibri"/>
              </a:rPr>
              <a:t>Diagrama de Flujo de Datos </a:t>
            </a:r>
            <a:r>
              <a:rPr lang="es-VE" sz="2400">
                <a:solidFill>
                  <a:schemeClr val="lt1"/>
                </a:solidFill>
                <a:latin typeface="Calibri"/>
                <a:ea typeface="Calibri"/>
                <a:cs typeface="Calibri"/>
                <a:sym typeface="Calibri"/>
              </a:rPr>
              <a:t>2 </a:t>
            </a:r>
            <a:r>
              <a:rPr lang="es-VE" sz="2400">
                <a:solidFill>
                  <a:schemeClr val="lt1"/>
                </a:solidFill>
                <a:latin typeface="Calibri"/>
                <a:ea typeface="Calibri"/>
                <a:cs typeface="Calibri"/>
                <a:sym typeface="Calibri"/>
              </a:rPr>
              <a:t>(DFD) </a:t>
            </a:r>
            <a:r>
              <a:rPr lang="es-VE" sz="2400">
                <a:solidFill>
                  <a:schemeClr val="lt1"/>
                </a:solidFill>
                <a:latin typeface="Calibri"/>
                <a:ea typeface="Calibri"/>
                <a:cs typeface="Calibri"/>
                <a:sym typeface="Calibri"/>
              </a:rPr>
              <a:t>MÓDULO</a:t>
            </a:r>
            <a:r>
              <a:rPr lang="es-VE" sz="2400">
                <a:solidFill>
                  <a:schemeClr val="lt1"/>
                </a:solidFill>
                <a:latin typeface="Calibri"/>
                <a:ea typeface="Calibri"/>
                <a:cs typeface="Calibri"/>
                <a:sym typeface="Calibri"/>
              </a:rPr>
              <a:t> </a:t>
            </a:r>
            <a:r>
              <a:rPr lang="es-VE" sz="2400">
                <a:solidFill>
                  <a:schemeClr val="lt1"/>
                </a:solidFill>
                <a:latin typeface="Calibri"/>
                <a:ea typeface="Calibri"/>
                <a:cs typeface="Calibri"/>
                <a:sym typeface="Calibri"/>
              </a:rPr>
              <a:t>GESTIÓN</a:t>
            </a:r>
            <a:r>
              <a:rPr lang="es-VE" sz="2400">
                <a:solidFill>
                  <a:schemeClr val="lt1"/>
                </a:solidFill>
                <a:latin typeface="Calibri"/>
                <a:ea typeface="Calibri"/>
                <a:cs typeface="Calibri"/>
                <a:sym typeface="Calibri"/>
              </a:rPr>
              <a:t> CITAS</a:t>
            </a:r>
            <a:endParaRPr sz="2400">
              <a:solidFill>
                <a:schemeClr val="lt1"/>
              </a:solidFill>
              <a:latin typeface="Calibri"/>
              <a:ea typeface="Calibri"/>
              <a:cs typeface="Calibri"/>
              <a:sym typeface="Calibri"/>
            </a:endParaRPr>
          </a:p>
        </p:txBody>
      </p:sp>
      <p:pic>
        <p:nvPicPr>
          <p:cNvPr id="175" name="Google Shape;175;g3a89748b34d_0_15" title="DFD2 MODULO 3.png"/>
          <p:cNvPicPr preferRelativeResize="0"/>
          <p:nvPr/>
        </p:nvPicPr>
        <p:blipFill>
          <a:blip r:embed="rId3">
            <a:alphaModFix/>
          </a:blip>
          <a:stretch>
            <a:fillRect/>
          </a:stretch>
        </p:blipFill>
        <p:spPr>
          <a:xfrm>
            <a:off x="0" y="1210525"/>
            <a:ext cx="12191999" cy="5391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a89748b34d_0_20"/>
          <p:cNvSpPr/>
          <p:nvPr/>
        </p:nvSpPr>
        <p:spPr>
          <a:xfrm>
            <a:off x="0" y="0"/>
            <a:ext cx="12192000" cy="503400"/>
          </a:xfrm>
          <a:prstGeom prst="rect">
            <a:avLst/>
          </a:prstGeom>
          <a:solidFill>
            <a:srgbClr val="1E4E79"/>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PROYECTO FINAL</a:t>
            </a:r>
            <a:endParaRPr sz="2400">
              <a:solidFill>
                <a:schemeClr val="lt1"/>
              </a:solidFill>
              <a:latin typeface="Calibri"/>
              <a:ea typeface="Calibri"/>
              <a:cs typeface="Calibri"/>
              <a:sym typeface="Calibri"/>
            </a:endParaRPr>
          </a:p>
        </p:txBody>
      </p:sp>
      <p:sp>
        <p:nvSpPr>
          <p:cNvPr id="181" name="Google Shape;181;g3a89748b34d_0_20"/>
          <p:cNvSpPr/>
          <p:nvPr/>
        </p:nvSpPr>
        <p:spPr>
          <a:xfrm>
            <a:off x="0" y="503434"/>
            <a:ext cx="12192000" cy="554700"/>
          </a:xfrm>
          <a:prstGeom prst="rect">
            <a:avLst/>
          </a:prstGeom>
          <a:solidFill>
            <a:srgbClr val="2E75B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rPr lang="es-VE" sz="2400">
                <a:solidFill>
                  <a:schemeClr val="lt1"/>
                </a:solidFill>
                <a:latin typeface="Calibri"/>
                <a:ea typeface="Calibri"/>
                <a:cs typeface="Calibri"/>
                <a:sym typeface="Calibri"/>
              </a:rPr>
              <a:t>Diagrama de Flujo de Datos </a:t>
            </a:r>
            <a:r>
              <a:rPr lang="es-VE" sz="2400">
                <a:solidFill>
                  <a:schemeClr val="lt1"/>
                </a:solidFill>
                <a:latin typeface="Calibri"/>
                <a:ea typeface="Calibri"/>
                <a:cs typeface="Calibri"/>
                <a:sym typeface="Calibri"/>
              </a:rPr>
              <a:t>2 </a:t>
            </a:r>
            <a:r>
              <a:rPr lang="es-VE" sz="2400">
                <a:solidFill>
                  <a:schemeClr val="lt1"/>
                </a:solidFill>
                <a:latin typeface="Calibri"/>
                <a:ea typeface="Calibri"/>
                <a:cs typeface="Calibri"/>
                <a:sym typeface="Calibri"/>
              </a:rPr>
              <a:t>(DFD) </a:t>
            </a:r>
            <a:r>
              <a:rPr lang="es-VE" sz="2400">
                <a:solidFill>
                  <a:schemeClr val="lt1"/>
                </a:solidFill>
                <a:latin typeface="Calibri"/>
                <a:ea typeface="Calibri"/>
                <a:cs typeface="Calibri"/>
                <a:sym typeface="Calibri"/>
              </a:rPr>
              <a:t>MÓDULO</a:t>
            </a:r>
            <a:r>
              <a:rPr lang="es-VE" sz="2400">
                <a:solidFill>
                  <a:schemeClr val="lt1"/>
                </a:solidFill>
                <a:latin typeface="Calibri"/>
                <a:ea typeface="Calibri"/>
                <a:cs typeface="Calibri"/>
                <a:sym typeface="Calibri"/>
              </a:rPr>
              <a:t> 4</a:t>
            </a:r>
            <a:endParaRPr sz="2400">
              <a:solidFill>
                <a:schemeClr val="lt1"/>
              </a:solidFill>
              <a:latin typeface="Calibri"/>
              <a:ea typeface="Calibri"/>
              <a:cs typeface="Calibri"/>
              <a:sym typeface="Calibri"/>
            </a:endParaRPr>
          </a:p>
        </p:txBody>
      </p:sp>
      <p:pic>
        <p:nvPicPr>
          <p:cNvPr id="182" name="Google Shape;182;g3a89748b34d_0_20" title="DFD2 MODULO 4.png"/>
          <p:cNvPicPr preferRelativeResize="0"/>
          <p:nvPr/>
        </p:nvPicPr>
        <p:blipFill>
          <a:blip r:embed="rId3">
            <a:alphaModFix/>
          </a:blip>
          <a:stretch>
            <a:fillRect/>
          </a:stretch>
        </p:blipFill>
        <p:spPr>
          <a:xfrm>
            <a:off x="2191725" y="1058150"/>
            <a:ext cx="6904500" cy="58279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ed1769e169_0_0"/>
          <p:cNvSpPr/>
          <p:nvPr/>
        </p:nvSpPr>
        <p:spPr>
          <a:xfrm>
            <a:off x="0" y="0"/>
            <a:ext cx="12192000" cy="503400"/>
          </a:xfrm>
          <a:prstGeom prst="rect">
            <a:avLst/>
          </a:prstGeom>
          <a:solidFill>
            <a:srgbClr val="1E4E79"/>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PROYECTO FINAL</a:t>
            </a:r>
            <a:endParaRPr sz="2400">
              <a:solidFill>
                <a:schemeClr val="lt1"/>
              </a:solidFill>
              <a:latin typeface="Calibri"/>
              <a:ea typeface="Calibri"/>
              <a:cs typeface="Calibri"/>
              <a:sym typeface="Calibri"/>
            </a:endParaRPr>
          </a:p>
        </p:txBody>
      </p:sp>
      <p:sp>
        <p:nvSpPr>
          <p:cNvPr id="188" name="Google Shape;188;g3ed1769e169_0_0"/>
          <p:cNvSpPr/>
          <p:nvPr/>
        </p:nvSpPr>
        <p:spPr>
          <a:xfrm>
            <a:off x="0" y="503434"/>
            <a:ext cx="12192000" cy="554700"/>
          </a:xfrm>
          <a:prstGeom prst="rect">
            <a:avLst/>
          </a:prstGeom>
          <a:solidFill>
            <a:srgbClr val="2E75B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None/>
            </a:pPr>
            <a:r>
              <a:rPr lang="es-VE" sz="2400">
                <a:solidFill>
                  <a:schemeClr val="lt1"/>
                </a:solidFill>
                <a:latin typeface="Calibri"/>
                <a:ea typeface="Calibri"/>
                <a:cs typeface="Calibri"/>
                <a:sym typeface="Calibri"/>
              </a:rPr>
              <a:t>Diagrama de Flujo de Datos 3 (DFD) MÓDULO 1 expandido</a:t>
            </a:r>
            <a:endParaRPr sz="2400">
              <a:solidFill>
                <a:schemeClr val="lt1"/>
              </a:solidFill>
              <a:latin typeface="Calibri"/>
              <a:ea typeface="Calibri"/>
              <a:cs typeface="Calibri"/>
              <a:sym typeface="Calibri"/>
            </a:endParaRPr>
          </a:p>
        </p:txBody>
      </p:sp>
      <p:pic>
        <p:nvPicPr>
          <p:cNvPr id="189" name="Google Shape;189;g3ed1769e169_0_0" title="dfd3 ultimo nivel.png"/>
          <p:cNvPicPr preferRelativeResize="0"/>
          <p:nvPr/>
        </p:nvPicPr>
        <p:blipFill>
          <a:blip r:embed="rId3">
            <a:alphaModFix/>
          </a:blip>
          <a:stretch>
            <a:fillRect/>
          </a:stretch>
        </p:blipFill>
        <p:spPr>
          <a:xfrm>
            <a:off x="3764475" y="1058150"/>
            <a:ext cx="3864825" cy="5800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2"/>
          <p:cNvSpPr/>
          <p:nvPr/>
        </p:nvSpPr>
        <p:spPr>
          <a:xfrm>
            <a:off x="0" y="0"/>
            <a:ext cx="12192000" cy="503434"/>
          </a:xfrm>
          <a:prstGeom prst="rect">
            <a:avLst/>
          </a:prstGeom>
          <a:solidFill>
            <a:srgbClr val="1E4E79"/>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PROYECTO FINAL</a:t>
            </a:r>
            <a:endParaRPr sz="2400">
              <a:solidFill>
                <a:schemeClr val="lt1"/>
              </a:solidFill>
              <a:latin typeface="Calibri"/>
              <a:ea typeface="Calibri"/>
              <a:cs typeface="Calibri"/>
              <a:sym typeface="Calibri"/>
            </a:endParaRPr>
          </a:p>
        </p:txBody>
      </p:sp>
      <p:pic>
        <p:nvPicPr>
          <p:cNvPr id="195" name="Google Shape;195;p12" title="ultimo modelo entidadrelacion.png"/>
          <p:cNvPicPr preferRelativeResize="0"/>
          <p:nvPr/>
        </p:nvPicPr>
        <p:blipFill>
          <a:blip r:embed="rId3">
            <a:alphaModFix/>
          </a:blip>
          <a:stretch>
            <a:fillRect/>
          </a:stretch>
        </p:blipFill>
        <p:spPr>
          <a:xfrm>
            <a:off x="968725" y="692100"/>
            <a:ext cx="10103649" cy="6165899"/>
          </a:xfrm>
          <a:prstGeom prst="rect">
            <a:avLst/>
          </a:prstGeom>
          <a:noFill/>
          <a:ln>
            <a:noFill/>
          </a:ln>
        </p:spPr>
      </p:pic>
      <p:sp>
        <p:nvSpPr>
          <p:cNvPr id="196" name="Google Shape;196;p12"/>
          <p:cNvSpPr/>
          <p:nvPr/>
        </p:nvSpPr>
        <p:spPr>
          <a:xfrm>
            <a:off x="0" y="503434"/>
            <a:ext cx="12192000" cy="554804"/>
          </a:xfrm>
          <a:prstGeom prst="rect">
            <a:avLst/>
          </a:prstGeom>
          <a:solidFill>
            <a:srgbClr val="2E75B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Diagrama Entidad-</a:t>
            </a:r>
            <a:r>
              <a:rPr lang="es-VE" sz="2400">
                <a:solidFill>
                  <a:schemeClr val="lt1"/>
                </a:solidFill>
                <a:latin typeface="Calibri"/>
                <a:ea typeface="Calibri"/>
                <a:cs typeface="Calibri"/>
                <a:sym typeface="Calibri"/>
              </a:rPr>
              <a:t>Relación</a:t>
            </a:r>
            <a:endParaRPr sz="2400">
              <a:solidFill>
                <a:schemeClr val="lt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3f8df748cd3_0_2"/>
          <p:cNvSpPr/>
          <p:nvPr/>
        </p:nvSpPr>
        <p:spPr>
          <a:xfrm>
            <a:off x="0" y="0"/>
            <a:ext cx="12192000" cy="503400"/>
          </a:xfrm>
          <a:prstGeom prst="rect">
            <a:avLst/>
          </a:prstGeom>
          <a:solidFill>
            <a:srgbClr val="1E4E79"/>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PROYECTO FINAL</a:t>
            </a:r>
            <a:endParaRPr sz="2400">
              <a:solidFill>
                <a:schemeClr val="lt1"/>
              </a:solidFill>
              <a:latin typeface="Calibri"/>
              <a:ea typeface="Calibri"/>
              <a:cs typeface="Calibri"/>
              <a:sym typeface="Calibri"/>
            </a:endParaRPr>
          </a:p>
        </p:txBody>
      </p:sp>
      <p:sp>
        <p:nvSpPr>
          <p:cNvPr id="202" name="Google Shape;202;g3f8df748cd3_0_2"/>
          <p:cNvSpPr/>
          <p:nvPr/>
        </p:nvSpPr>
        <p:spPr>
          <a:xfrm>
            <a:off x="0" y="503434"/>
            <a:ext cx="12192000" cy="554700"/>
          </a:xfrm>
          <a:prstGeom prst="rect">
            <a:avLst/>
          </a:prstGeom>
          <a:solidFill>
            <a:srgbClr val="2E75B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Diccionario de BD </a:t>
            </a:r>
            <a:r>
              <a:rPr lang="es-VE" sz="2400">
                <a:solidFill>
                  <a:schemeClr val="lt1"/>
                </a:solidFill>
                <a:latin typeface="Calibri"/>
                <a:ea typeface="Calibri"/>
                <a:cs typeface="Calibri"/>
                <a:sym typeface="Calibri"/>
              </a:rPr>
              <a:t>(Tabla Usuario)</a:t>
            </a:r>
            <a:endParaRPr sz="2400">
              <a:solidFill>
                <a:schemeClr val="lt1"/>
              </a:solidFill>
              <a:latin typeface="Calibri"/>
              <a:ea typeface="Calibri"/>
              <a:cs typeface="Calibri"/>
              <a:sym typeface="Calibri"/>
            </a:endParaRPr>
          </a:p>
        </p:txBody>
      </p:sp>
      <p:graphicFrame>
        <p:nvGraphicFramePr>
          <p:cNvPr id="203" name="Google Shape;203;g3f8df748cd3_0_2"/>
          <p:cNvGraphicFramePr/>
          <p:nvPr/>
        </p:nvGraphicFramePr>
        <p:xfrm>
          <a:off x="409800" y="1343000"/>
          <a:ext cx="3000000" cy="3000000"/>
        </p:xfrm>
        <a:graphic>
          <a:graphicData uri="http://schemas.openxmlformats.org/drawingml/2006/table">
            <a:tbl>
              <a:tblPr>
                <a:noFill/>
                <a:tableStyleId>{E832FAEA-175A-40E4-AA56-F8DBB50E5F8A}</a:tableStyleId>
              </a:tblPr>
              <a:tblGrid>
                <a:gridCol w="3845625"/>
                <a:gridCol w="3845625"/>
                <a:gridCol w="3845625"/>
              </a:tblGrid>
              <a:tr h="506000">
                <a:tc>
                  <a:txBody>
                    <a:bodyPr/>
                    <a:lstStyle/>
                    <a:p>
                      <a:pPr indent="0" lvl="0" marL="0" rtl="0" algn="ctr">
                        <a:spcBef>
                          <a:spcPts val="0"/>
                        </a:spcBef>
                        <a:spcAft>
                          <a:spcPts val="0"/>
                        </a:spcAft>
                        <a:buNone/>
                      </a:pPr>
                      <a:r>
                        <a:rPr b="1" lang="es-VE">
                          <a:solidFill>
                            <a:schemeClr val="lt1"/>
                          </a:solidFill>
                        </a:rPr>
                        <a:t>CAMPO</a:t>
                      </a:r>
                      <a:endParaRPr b="1">
                        <a:solidFill>
                          <a:schemeClr val="lt1"/>
                        </a:solidFill>
                      </a:endParaRPr>
                    </a:p>
                  </a:txBody>
                  <a:tcPr marT="91425" marB="91425" marR="91425" marL="91425">
                    <a:solidFill>
                      <a:srgbClr val="0B5394"/>
                    </a:solidFill>
                  </a:tcPr>
                </a:tc>
                <a:tc>
                  <a:txBody>
                    <a:bodyPr/>
                    <a:lstStyle/>
                    <a:p>
                      <a:pPr indent="0" lvl="0" marL="0" rtl="0" algn="ctr">
                        <a:spcBef>
                          <a:spcPts val="0"/>
                        </a:spcBef>
                        <a:spcAft>
                          <a:spcPts val="0"/>
                        </a:spcAft>
                        <a:buClr>
                          <a:schemeClr val="dk1"/>
                        </a:buClr>
                        <a:buSzPts val="1100"/>
                        <a:buFont typeface="Arial"/>
                        <a:buNone/>
                      </a:pPr>
                      <a:r>
                        <a:rPr b="1" lang="es-VE">
                          <a:solidFill>
                            <a:schemeClr val="lt1"/>
                          </a:solidFill>
                        </a:rPr>
                        <a:t>TIPO</a:t>
                      </a:r>
                      <a:endParaRPr/>
                    </a:p>
                  </a:txBody>
                  <a:tcPr marT="91425" marB="91425" marR="91425" marL="91425">
                    <a:solidFill>
                      <a:srgbClr val="0B5394"/>
                    </a:solidFill>
                  </a:tcPr>
                </a:tc>
                <a:tc>
                  <a:txBody>
                    <a:bodyPr/>
                    <a:lstStyle/>
                    <a:p>
                      <a:pPr indent="0" lvl="0" marL="0" rtl="0" algn="ctr">
                        <a:spcBef>
                          <a:spcPts val="0"/>
                        </a:spcBef>
                        <a:spcAft>
                          <a:spcPts val="0"/>
                        </a:spcAft>
                        <a:buClr>
                          <a:schemeClr val="dk1"/>
                        </a:buClr>
                        <a:buSzPts val="1100"/>
                        <a:buFont typeface="Arial"/>
                        <a:buNone/>
                      </a:pPr>
                      <a:r>
                        <a:rPr b="1" lang="es-VE">
                          <a:solidFill>
                            <a:schemeClr val="lt1"/>
                          </a:solidFill>
                        </a:rPr>
                        <a:t>DESCRIPCIÓN</a:t>
                      </a:r>
                      <a:endParaRPr/>
                    </a:p>
                  </a:txBody>
                  <a:tcPr marT="91425" marB="91425" marR="91425" marL="91425">
                    <a:solidFill>
                      <a:srgbClr val="0B5394"/>
                    </a:solidFill>
                  </a:tcPr>
                </a:tc>
              </a:tr>
              <a:tr h="506000">
                <a:tc>
                  <a:txBody>
                    <a:bodyPr/>
                    <a:lstStyle/>
                    <a:p>
                      <a:pPr indent="0" lvl="0" marL="0" rtl="0" algn="l">
                        <a:spcBef>
                          <a:spcPts val="0"/>
                        </a:spcBef>
                        <a:spcAft>
                          <a:spcPts val="0"/>
                        </a:spcAft>
                        <a:buNone/>
                      </a:pPr>
                      <a:r>
                        <a:rPr lang="es-VE"/>
                        <a:t>ID (PK)</a:t>
                      </a:r>
                      <a:endParaRPr/>
                    </a:p>
                  </a:txBody>
                  <a:tcPr marT="91425" marB="91425" marR="91425" marL="91425">
                    <a:solidFill>
                      <a:srgbClr val="9FC5E8"/>
                    </a:solidFill>
                  </a:tcPr>
                </a:tc>
                <a:tc>
                  <a:txBody>
                    <a:bodyPr/>
                    <a:lstStyle/>
                    <a:p>
                      <a:pPr indent="0" lvl="0" marL="0" rtl="0" algn="l">
                        <a:spcBef>
                          <a:spcPts val="0"/>
                        </a:spcBef>
                        <a:spcAft>
                          <a:spcPts val="0"/>
                        </a:spcAft>
                        <a:buNone/>
                      </a:pPr>
                      <a:r>
                        <a:rPr lang="es-VE"/>
                        <a:t>INT</a:t>
                      </a:r>
                      <a:endParaRPr/>
                    </a:p>
                  </a:txBody>
                  <a:tcPr marT="91425" marB="91425" marR="91425" marL="91425">
                    <a:solidFill>
                      <a:srgbClr val="9FC5E8"/>
                    </a:solidFill>
                  </a:tcPr>
                </a:tc>
                <a:tc>
                  <a:txBody>
                    <a:bodyPr/>
                    <a:lstStyle/>
                    <a:p>
                      <a:pPr indent="0" lvl="0" marL="0" rtl="0" algn="l">
                        <a:spcBef>
                          <a:spcPts val="0"/>
                        </a:spcBef>
                        <a:spcAft>
                          <a:spcPts val="0"/>
                        </a:spcAft>
                        <a:buNone/>
                      </a:pPr>
                      <a:r>
                        <a:rPr lang="es-VE"/>
                        <a:t>Identificador único del usuario. </a:t>
                      </a:r>
                      <a:endParaRPr/>
                    </a:p>
                  </a:txBody>
                  <a:tcPr marT="91425" marB="91425" marR="91425" marL="91425">
                    <a:solidFill>
                      <a:srgbClr val="9FC5E8"/>
                    </a:solidFill>
                  </a:tcPr>
                </a:tc>
              </a:tr>
              <a:tr h="506000">
                <a:tc>
                  <a:txBody>
                    <a:bodyPr/>
                    <a:lstStyle/>
                    <a:p>
                      <a:pPr indent="0" lvl="0" marL="0" rtl="0" algn="l">
                        <a:spcBef>
                          <a:spcPts val="0"/>
                        </a:spcBef>
                        <a:spcAft>
                          <a:spcPts val="0"/>
                        </a:spcAft>
                        <a:buNone/>
                      </a:pPr>
                      <a:r>
                        <a:rPr lang="es-VE"/>
                        <a:t>Nombre</a:t>
                      </a:r>
                      <a:endParaRPr/>
                    </a:p>
                  </a:txBody>
                  <a:tcPr marT="91425" marB="91425" marR="91425" marL="91425">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VARCHAR(120) </a:t>
                      </a:r>
                      <a:endParaRPr/>
                    </a:p>
                  </a:txBody>
                  <a:tcPr marT="91425" marB="91425" marR="91425" marL="91425">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Nombre completo del usuario. </a:t>
                      </a:r>
                      <a:endParaRPr/>
                    </a:p>
                  </a:txBody>
                  <a:tcPr marT="91425" marB="91425" marR="91425" marL="91425">
                    <a:lnB cap="flat" cmpd="sng" w="9525">
                      <a:solidFill>
                        <a:srgbClr val="9E9E9E"/>
                      </a:solidFill>
                      <a:prstDash val="solid"/>
                      <a:round/>
                      <a:headEnd len="sm" w="sm" type="none"/>
                      <a:tailEnd len="sm" w="sm" type="none"/>
                    </a:lnB>
                    <a:solidFill>
                      <a:srgbClr val="CFE2F3"/>
                    </a:solidFill>
                  </a:tcPr>
                </a:tc>
              </a:tr>
              <a:tr h="506000">
                <a:tc>
                  <a:txBody>
                    <a:bodyPr/>
                    <a:lstStyle/>
                    <a:p>
                      <a:pPr indent="0" lvl="0" marL="0" rtl="0" algn="l">
                        <a:spcBef>
                          <a:spcPts val="0"/>
                        </a:spcBef>
                        <a:spcAft>
                          <a:spcPts val="0"/>
                        </a:spcAft>
                        <a:buNone/>
                      </a:pPr>
                      <a:r>
                        <a:rPr lang="es-VE"/>
                        <a:t>Email</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VARCHAR(150)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Correo electrónico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r>
              <a:tr h="506000">
                <a:tc>
                  <a:txBody>
                    <a:bodyPr/>
                    <a:lstStyle/>
                    <a:p>
                      <a:pPr indent="0" lvl="0" marL="0" rtl="0" algn="l">
                        <a:spcBef>
                          <a:spcPts val="0"/>
                        </a:spcBef>
                        <a:spcAft>
                          <a:spcPts val="0"/>
                        </a:spcAft>
                        <a:buNone/>
                      </a:pPr>
                      <a:r>
                        <a:rPr lang="es-VE"/>
                        <a:t>Telefono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VARCHAR(30)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Número de contacto.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r>
              <a:tr h="506000">
                <a:tc>
                  <a:txBody>
                    <a:bodyPr/>
                    <a:lstStyle/>
                    <a:p>
                      <a:pPr indent="0" lvl="0" marL="0" rtl="0" algn="l">
                        <a:spcBef>
                          <a:spcPts val="0"/>
                        </a:spcBef>
                        <a:spcAft>
                          <a:spcPts val="0"/>
                        </a:spcAft>
                        <a:buNone/>
                      </a:pPr>
                      <a:r>
                        <a:rPr lang="es-VE"/>
                        <a:t>password_hash</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VARCHAR(255)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Contraseña encriptada.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r>
              <a:tr h="506000">
                <a:tc>
                  <a:txBody>
                    <a:bodyPr/>
                    <a:lstStyle/>
                    <a:p>
                      <a:pPr indent="0" lvl="0" marL="0" rtl="0" algn="l">
                        <a:spcBef>
                          <a:spcPts val="0"/>
                        </a:spcBef>
                        <a:spcAft>
                          <a:spcPts val="0"/>
                        </a:spcAft>
                        <a:buNone/>
                      </a:pPr>
                      <a:r>
                        <a:rPr lang="es-VE"/>
                        <a:t>rol</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Varchar(20)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Nivel de acceso asignado (Cliente, Agente, Admin).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r>
              <a:tr h="506000">
                <a:tc>
                  <a:txBody>
                    <a:bodyPr/>
                    <a:lstStyle/>
                    <a:p>
                      <a:pPr indent="0" lvl="0" marL="0" rtl="0" algn="l">
                        <a:spcBef>
                          <a:spcPts val="0"/>
                        </a:spcBef>
                        <a:spcAft>
                          <a:spcPts val="0"/>
                        </a:spcAft>
                        <a:buNone/>
                      </a:pPr>
                      <a:r>
                        <a:rPr lang="es-VE"/>
                        <a:t>foto_perfil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Varchar(200)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Ruta de la imagen de perfil del usuario.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r>
              <a:tr h="506000">
                <a:tc>
                  <a:txBody>
                    <a:bodyPr/>
                    <a:lstStyle/>
                    <a:p>
                      <a:pPr indent="0" lvl="0" marL="0" rtl="0" algn="l">
                        <a:spcBef>
                          <a:spcPts val="0"/>
                        </a:spcBef>
                        <a:spcAft>
                          <a:spcPts val="0"/>
                        </a:spcAft>
                        <a:buNone/>
                      </a:pPr>
                      <a:r>
                        <a:rPr lang="es-VE"/>
                        <a:t>fecha_registro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DateTime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Fecha y hora de creación de la cuenta.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3"/>
          <p:cNvSpPr/>
          <p:nvPr/>
        </p:nvSpPr>
        <p:spPr>
          <a:xfrm>
            <a:off x="0" y="0"/>
            <a:ext cx="12192000" cy="503434"/>
          </a:xfrm>
          <a:prstGeom prst="rect">
            <a:avLst/>
          </a:prstGeom>
          <a:solidFill>
            <a:srgbClr val="1E4E79"/>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PROYECTO FINAL</a:t>
            </a:r>
            <a:endParaRPr sz="2400">
              <a:solidFill>
                <a:schemeClr val="lt1"/>
              </a:solidFill>
              <a:latin typeface="Calibri"/>
              <a:ea typeface="Calibri"/>
              <a:cs typeface="Calibri"/>
              <a:sym typeface="Calibri"/>
            </a:endParaRPr>
          </a:p>
        </p:txBody>
      </p:sp>
      <p:sp>
        <p:nvSpPr>
          <p:cNvPr id="209" name="Google Shape;209;p13"/>
          <p:cNvSpPr/>
          <p:nvPr/>
        </p:nvSpPr>
        <p:spPr>
          <a:xfrm>
            <a:off x="0" y="503434"/>
            <a:ext cx="12192000" cy="554804"/>
          </a:xfrm>
          <a:prstGeom prst="rect">
            <a:avLst/>
          </a:prstGeom>
          <a:solidFill>
            <a:srgbClr val="2E75B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lang="es-VE" sz="2400">
                <a:solidFill>
                  <a:schemeClr val="lt1"/>
                </a:solidFill>
                <a:latin typeface="Calibri"/>
                <a:ea typeface="Calibri"/>
                <a:cs typeface="Calibri"/>
                <a:sym typeface="Calibri"/>
              </a:rPr>
              <a:t>Diccionario de BD (Tabla agente)</a:t>
            </a:r>
            <a:endParaRPr sz="2400">
              <a:solidFill>
                <a:schemeClr val="lt1"/>
              </a:solidFill>
              <a:latin typeface="Calibri"/>
              <a:ea typeface="Calibri"/>
              <a:cs typeface="Calibri"/>
              <a:sym typeface="Calibri"/>
            </a:endParaRPr>
          </a:p>
        </p:txBody>
      </p:sp>
      <p:graphicFrame>
        <p:nvGraphicFramePr>
          <p:cNvPr id="210" name="Google Shape;210;p13"/>
          <p:cNvGraphicFramePr/>
          <p:nvPr/>
        </p:nvGraphicFramePr>
        <p:xfrm>
          <a:off x="409800" y="1343000"/>
          <a:ext cx="3000000" cy="3000000"/>
        </p:xfrm>
        <a:graphic>
          <a:graphicData uri="http://schemas.openxmlformats.org/drawingml/2006/table">
            <a:tbl>
              <a:tblPr>
                <a:noFill/>
                <a:tableStyleId>{E832FAEA-175A-40E4-AA56-F8DBB50E5F8A}</a:tableStyleId>
              </a:tblPr>
              <a:tblGrid>
                <a:gridCol w="3845625"/>
                <a:gridCol w="3845625"/>
                <a:gridCol w="3845625"/>
              </a:tblGrid>
              <a:tr h="506000">
                <a:tc>
                  <a:txBody>
                    <a:bodyPr/>
                    <a:lstStyle/>
                    <a:p>
                      <a:pPr indent="0" lvl="0" marL="0" rtl="0" algn="ctr">
                        <a:spcBef>
                          <a:spcPts val="0"/>
                        </a:spcBef>
                        <a:spcAft>
                          <a:spcPts val="0"/>
                        </a:spcAft>
                        <a:buNone/>
                      </a:pPr>
                      <a:r>
                        <a:rPr b="1" lang="es-VE">
                          <a:solidFill>
                            <a:schemeClr val="lt1"/>
                          </a:solidFill>
                        </a:rPr>
                        <a:t>CAMPO</a:t>
                      </a:r>
                      <a:endParaRPr b="1">
                        <a:solidFill>
                          <a:schemeClr val="lt1"/>
                        </a:solidFill>
                      </a:endParaRPr>
                    </a:p>
                  </a:txBody>
                  <a:tcPr marT="91425" marB="91425" marR="91425" marL="91425">
                    <a:solidFill>
                      <a:srgbClr val="0B5394"/>
                    </a:solidFill>
                  </a:tcPr>
                </a:tc>
                <a:tc>
                  <a:txBody>
                    <a:bodyPr/>
                    <a:lstStyle/>
                    <a:p>
                      <a:pPr indent="0" lvl="0" marL="0" rtl="0" algn="ctr">
                        <a:spcBef>
                          <a:spcPts val="0"/>
                        </a:spcBef>
                        <a:spcAft>
                          <a:spcPts val="0"/>
                        </a:spcAft>
                        <a:buNone/>
                      </a:pPr>
                      <a:r>
                        <a:rPr b="1" lang="es-VE">
                          <a:solidFill>
                            <a:schemeClr val="lt1"/>
                          </a:solidFill>
                        </a:rPr>
                        <a:t>TIPO</a:t>
                      </a:r>
                      <a:endParaRPr/>
                    </a:p>
                  </a:txBody>
                  <a:tcPr marT="91425" marB="91425" marR="91425" marL="91425">
                    <a:solidFill>
                      <a:srgbClr val="0B5394"/>
                    </a:solidFill>
                  </a:tcPr>
                </a:tc>
                <a:tc>
                  <a:txBody>
                    <a:bodyPr/>
                    <a:lstStyle/>
                    <a:p>
                      <a:pPr indent="0" lvl="0" marL="0" rtl="0" algn="ctr">
                        <a:spcBef>
                          <a:spcPts val="0"/>
                        </a:spcBef>
                        <a:spcAft>
                          <a:spcPts val="0"/>
                        </a:spcAft>
                        <a:buNone/>
                      </a:pPr>
                      <a:r>
                        <a:rPr b="1" lang="es-VE">
                          <a:solidFill>
                            <a:schemeClr val="lt1"/>
                          </a:solidFill>
                        </a:rPr>
                        <a:t>DESCRIPCIÓN</a:t>
                      </a:r>
                      <a:endParaRPr/>
                    </a:p>
                  </a:txBody>
                  <a:tcPr marT="91425" marB="91425" marR="91425" marL="91425">
                    <a:solidFill>
                      <a:srgbClr val="0B5394"/>
                    </a:solidFill>
                  </a:tcPr>
                </a:tc>
              </a:tr>
              <a:tr h="506000">
                <a:tc>
                  <a:txBody>
                    <a:bodyPr/>
                    <a:lstStyle/>
                    <a:p>
                      <a:pPr indent="0" lvl="0" marL="0" rtl="0" algn="l">
                        <a:spcBef>
                          <a:spcPts val="0"/>
                        </a:spcBef>
                        <a:spcAft>
                          <a:spcPts val="0"/>
                        </a:spcAft>
                        <a:buNone/>
                      </a:pPr>
                      <a:r>
                        <a:rPr lang="es-VE"/>
                        <a:t>ID (PK,FK)</a:t>
                      </a:r>
                      <a:endParaRPr/>
                    </a:p>
                  </a:txBody>
                  <a:tcPr marT="91425" marB="91425" marR="91425" marL="91425">
                    <a:solidFill>
                      <a:srgbClr val="9FC5E8"/>
                    </a:solidFill>
                  </a:tcPr>
                </a:tc>
                <a:tc>
                  <a:txBody>
                    <a:bodyPr/>
                    <a:lstStyle/>
                    <a:p>
                      <a:pPr indent="0" lvl="0" marL="0" rtl="0" algn="l">
                        <a:spcBef>
                          <a:spcPts val="0"/>
                        </a:spcBef>
                        <a:spcAft>
                          <a:spcPts val="0"/>
                        </a:spcAft>
                        <a:buNone/>
                      </a:pPr>
                      <a:r>
                        <a:rPr lang="es-VE"/>
                        <a:t>INT</a:t>
                      </a:r>
                      <a:endParaRPr/>
                    </a:p>
                  </a:txBody>
                  <a:tcPr marT="91425" marB="91425" marR="91425" marL="91425">
                    <a:solidFill>
                      <a:srgbClr val="9FC5E8"/>
                    </a:solidFill>
                  </a:tcPr>
                </a:tc>
                <a:tc>
                  <a:txBody>
                    <a:bodyPr/>
                    <a:lstStyle/>
                    <a:p>
                      <a:pPr indent="0" lvl="0" marL="0" rtl="0" algn="l">
                        <a:spcBef>
                          <a:spcPts val="0"/>
                        </a:spcBef>
                        <a:spcAft>
                          <a:spcPts val="0"/>
                        </a:spcAft>
                        <a:buNone/>
                      </a:pPr>
                      <a:r>
                        <a:rPr lang="es-VE"/>
                        <a:t>Llave primaria y foránea vinculada a usuario.id.</a:t>
                      </a:r>
                      <a:endParaRPr/>
                    </a:p>
                  </a:txBody>
                  <a:tcPr marT="91425" marB="91425" marR="91425" marL="91425">
                    <a:solidFill>
                      <a:srgbClr val="9FC5E8"/>
                    </a:solidFill>
                  </a:tcPr>
                </a:tc>
              </a:tr>
              <a:tr h="506000">
                <a:tc>
                  <a:txBody>
                    <a:bodyPr/>
                    <a:lstStyle/>
                    <a:p>
                      <a:pPr indent="0" lvl="0" marL="0" rtl="0" algn="l">
                        <a:spcBef>
                          <a:spcPts val="0"/>
                        </a:spcBef>
                        <a:spcAft>
                          <a:spcPts val="0"/>
                        </a:spcAft>
                        <a:buNone/>
                      </a:pPr>
                      <a:r>
                        <a:rPr lang="es-VE"/>
                        <a:t>Bio</a:t>
                      </a:r>
                      <a:endParaRPr/>
                    </a:p>
                  </a:txBody>
                  <a:tcPr marT="91425" marB="91425" marR="91425" marL="91425">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TEXT</a:t>
                      </a:r>
                      <a:endParaRPr/>
                    </a:p>
                  </a:txBody>
                  <a:tcPr marT="91425" marB="91425" marR="91425" marL="91425">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Breve descripción de su experiencia y especialidad. </a:t>
                      </a:r>
                      <a:endParaRPr/>
                    </a:p>
                  </a:txBody>
                  <a:tcPr marT="91425" marB="91425" marR="91425" marL="91425">
                    <a:lnB cap="flat" cmpd="sng" w="9525">
                      <a:solidFill>
                        <a:srgbClr val="9E9E9E"/>
                      </a:solidFill>
                      <a:prstDash val="solid"/>
                      <a:round/>
                      <a:headEnd len="sm" w="sm" type="none"/>
                      <a:tailEnd len="sm" w="sm" type="none"/>
                    </a:lnB>
                    <a:solidFill>
                      <a:srgbClr val="CFE2F3"/>
                    </a:solidFill>
                  </a:tcPr>
                </a:tc>
              </a:tr>
              <a:tr h="506000">
                <a:tc>
                  <a:txBody>
                    <a:bodyPr/>
                    <a:lstStyle/>
                    <a:p>
                      <a:pPr indent="0" lvl="0" marL="0" rtl="0" algn="l">
                        <a:spcBef>
                          <a:spcPts val="0"/>
                        </a:spcBef>
                        <a:spcAft>
                          <a:spcPts val="0"/>
                        </a:spcAft>
                        <a:buNone/>
                      </a:pPr>
                      <a:r>
                        <a:rPr lang="es-VE"/>
                        <a:t>numero_whatsapp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Varchar(30) </a:t>
                      </a:r>
                      <a:r>
                        <a:rPr lang="es-VE"/>
                        <a:t>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Número de contacto directo corporativo.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r>
              <a:tr h="506000">
                <a:tc>
                  <a:txBody>
                    <a:bodyPr/>
                    <a:lstStyle/>
                    <a:p>
                      <a:pPr indent="0" lvl="0" marL="0" rtl="0" algn="l">
                        <a:spcBef>
                          <a:spcPts val="0"/>
                        </a:spcBef>
                        <a:spcAft>
                          <a:spcPts val="0"/>
                        </a:spcAft>
                        <a:buNone/>
                      </a:pPr>
                      <a:r>
                        <a:rPr lang="es-VE"/>
                        <a:t>foto_perfil</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VARCHAR (255)</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Foto de perfil corporativa específica del agente.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4"/>
          <p:cNvSpPr/>
          <p:nvPr/>
        </p:nvSpPr>
        <p:spPr>
          <a:xfrm>
            <a:off x="0" y="0"/>
            <a:ext cx="12192000" cy="503434"/>
          </a:xfrm>
          <a:prstGeom prst="rect">
            <a:avLst/>
          </a:prstGeom>
          <a:solidFill>
            <a:srgbClr val="1E4E79"/>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PROYECTO FINAL</a:t>
            </a:r>
            <a:endParaRPr sz="2400">
              <a:solidFill>
                <a:schemeClr val="lt1"/>
              </a:solidFill>
              <a:latin typeface="Calibri"/>
              <a:ea typeface="Calibri"/>
              <a:cs typeface="Calibri"/>
              <a:sym typeface="Calibri"/>
            </a:endParaRPr>
          </a:p>
        </p:txBody>
      </p:sp>
      <p:sp>
        <p:nvSpPr>
          <p:cNvPr id="216" name="Google Shape;216;p14"/>
          <p:cNvSpPr/>
          <p:nvPr/>
        </p:nvSpPr>
        <p:spPr>
          <a:xfrm>
            <a:off x="0" y="503434"/>
            <a:ext cx="12192000" cy="554804"/>
          </a:xfrm>
          <a:prstGeom prst="rect">
            <a:avLst/>
          </a:prstGeom>
          <a:solidFill>
            <a:srgbClr val="2E75B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lang="es-VE" sz="2400">
                <a:solidFill>
                  <a:schemeClr val="lt1"/>
                </a:solidFill>
                <a:latin typeface="Calibri"/>
                <a:ea typeface="Calibri"/>
                <a:cs typeface="Calibri"/>
                <a:sym typeface="Calibri"/>
              </a:rPr>
              <a:t>Diccionario de BD (Tabla Inmueble)</a:t>
            </a:r>
            <a:endParaRPr sz="2400">
              <a:solidFill>
                <a:schemeClr val="lt1"/>
              </a:solidFill>
              <a:latin typeface="Calibri"/>
              <a:ea typeface="Calibri"/>
              <a:cs typeface="Calibri"/>
              <a:sym typeface="Calibri"/>
            </a:endParaRPr>
          </a:p>
        </p:txBody>
      </p:sp>
      <p:graphicFrame>
        <p:nvGraphicFramePr>
          <p:cNvPr id="217" name="Google Shape;217;p14"/>
          <p:cNvGraphicFramePr/>
          <p:nvPr/>
        </p:nvGraphicFramePr>
        <p:xfrm>
          <a:off x="254613" y="1058250"/>
          <a:ext cx="3000000" cy="3000000"/>
        </p:xfrm>
        <a:graphic>
          <a:graphicData uri="http://schemas.openxmlformats.org/drawingml/2006/table">
            <a:tbl>
              <a:tblPr>
                <a:noFill/>
                <a:tableStyleId>{E832FAEA-175A-40E4-AA56-F8DBB50E5F8A}</a:tableStyleId>
              </a:tblPr>
              <a:tblGrid>
                <a:gridCol w="3954800"/>
                <a:gridCol w="3954800"/>
                <a:gridCol w="3954800"/>
              </a:tblGrid>
              <a:tr h="386000">
                <a:tc>
                  <a:txBody>
                    <a:bodyPr/>
                    <a:lstStyle/>
                    <a:p>
                      <a:pPr indent="0" lvl="0" marL="0" rtl="0" algn="ctr">
                        <a:spcBef>
                          <a:spcPts val="0"/>
                        </a:spcBef>
                        <a:spcAft>
                          <a:spcPts val="0"/>
                        </a:spcAft>
                        <a:buNone/>
                      </a:pPr>
                      <a:r>
                        <a:rPr b="1" lang="es-VE">
                          <a:solidFill>
                            <a:schemeClr val="lt1"/>
                          </a:solidFill>
                        </a:rPr>
                        <a:t>CAMPO</a:t>
                      </a:r>
                      <a:endParaRPr b="1">
                        <a:solidFill>
                          <a:schemeClr val="lt1"/>
                        </a:solidFill>
                      </a:endParaRPr>
                    </a:p>
                  </a:txBody>
                  <a:tcPr marT="91425" marB="91425" marR="91425" marL="91425">
                    <a:solidFill>
                      <a:srgbClr val="0B5394"/>
                    </a:solidFill>
                  </a:tcPr>
                </a:tc>
                <a:tc>
                  <a:txBody>
                    <a:bodyPr/>
                    <a:lstStyle/>
                    <a:p>
                      <a:pPr indent="0" lvl="0" marL="0" rtl="0" algn="ctr">
                        <a:spcBef>
                          <a:spcPts val="0"/>
                        </a:spcBef>
                        <a:spcAft>
                          <a:spcPts val="0"/>
                        </a:spcAft>
                        <a:buNone/>
                      </a:pPr>
                      <a:r>
                        <a:rPr b="1" lang="es-VE">
                          <a:solidFill>
                            <a:schemeClr val="lt1"/>
                          </a:solidFill>
                        </a:rPr>
                        <a:t>TIPO</a:t>
                      </a:r>
                      <a:endParaRPr/>
                    </a:p>
                  </a:txBody>
                  <a:tcPr marT="91425" marB="91425" marR="91425" marL="91425">
                    <a:solidFill>
                      <a:srgbClr val="0B5394"/>
                    </a:solidFill>
                  </a:tcPr>
                </a:tc>
                <a:tc>
                  <a:txBody>
                    <a:bodyPr/>
                    <a:lstStyle/>
                    <a:p>
                      <a:pPr indent="0" lvl="0" marL="0" rtl="0" algn="ctr">
                        <a:spcBef>
                          <a:spcPts val="0"/>
                        </a:spcBef>
                        <a:spcAft>
                          <a:spcPts val="0"/>
                        </a:spcAft>
                        <a:buNone/>
                      </a:pPr>
                      <a:r>
                        <a:rPr b="1" lang="es-VE">
                          <a:solidFill>
                            <a:schemeClr val="lt1"/>
                          </a:solidFill>
                        </a:rPr>
                        <a:t>DESCRIPCIÓN</a:t>
                      </a:r>
                      <a:endParaRPr/>
                    </a:p>
                  </a:txBody>
                  <a:tcPr marT="91425" marB="91425" marR="91425" marL="91425">
                    <a:solidFill>
                      <a:srgbClr val="0B5394"/>
                    </a:solidFill>
                  </a:tcPr>
                </a:tc>
              </a:tr>
              <a:tr h="386000">
                <a:tc>
                  <a:txBody>
                    <a:bodyPr/>
                    <a:lstStyle/>
                    <a:p>
                      <a:pPr indent="0" lvl="0" marL="0" rtl="0" algn="l">
                        <a:spcBef>
                          <a:spcPts val="0"/>
                        </a:spcBef>
                        <a:spcAft>
                          <a:spcPts val="0"/>
                        </a:spcAft>
                        <a:buNone/>
                      </a:pPr>
                      <a:r>
                        <a:rPr lang="es-VE"/>
                        <a:t>ID (PK)</a:t>
                      </a:r>
                      <a:endParaRPr/>
                    </a:p>
                  </a:txBody>
                  <a:tcPr marT="91425" marB="91425" marR="91425" marL="91425">
                    <a:solidFill>
                      <a:srgbClr val="9FC5E8"/>
                    </a:solidFill>
                  </a:tcPr>
                </a:tc>
                <a:tc>
                  <a:txBody>
                    <a:bodyPr/>
                    <a:lstStyle/>
                    <a:p>
                      <a:pPr indent="0" lvl="0" marL="0" rtl="0" algn="l">
                        <a:spcBef>
                          <a:spcPts val="0"/>
                        </a:spcBef>
                        <a:spcAft>
                          <a:spcPts val="0"/>
                        </a:spcAft>
                        <a:buNone/>
                      </a:pPr>
                      <a:r>
                        <a:rPr lang="es-VE"/>
                        <a:t>INT</a:t>
                      </a:r>
                      <a:endParaRPr/>
                    </a:p>
                  </a:txBody>
                  <a:tcPr marT="91425" marB="91425" marR="91425" marL="91425">
                    <a:solidFill>
                      <a:srgbClr val="9FC5E8"/>
                    </a:solidFill>
                  </a:tcPr>
                </a:tc>
                <a:tc>
                  <a:txBody>
                    <a:bodyPr/>
                    <a:lstStyle/>
                    <a:p>
                      <a:pPr indent="0" lvl="0" marL="0" rtl="0" algn="l">
                        <a:spcBef>
                          <a:spcPts val="0"/>
                        </a:spcBef>
                        <a:spcAft>
                          <a:spcPts val="0"/>
                        </a:spcAft>
                        <a:buNone/>
                      </a:pPr>
                      <a:r>
                        <a:rPr lang="es-VE"/>
                        <a:t>Código único de la propiedad.</a:t>
                      </a:r>
                      <a:endParaRPr/>
                    </a:p>
                  </a:txBody>
                  <a:tcPr marT="91425" marB="91425" marR="91425" marL="91425">
                    <a:solidFill>
                      <a:srgbClr val="9FC5E8"/>
                    </a:solidFill>
                  </a:tcPr>
                </a:tc>
              </a:tr>
              <a:tr h="593850">
                <a:tc>
                  <a:txBody>
                    <a:bodyPr/>
                    <a:lstStyle/>
                    <a:p>
                      <a:pPr indent="0" lvl="0" marL="0" rtl="0" algn="l">
                        <a:spcBef>
                          <a:spcPts val="0"/>
                        </a:spcBef>
                        <a:spcAft>
                          <a:spcPts val="0"/>
                        </a:spcAft>
                        <a:buNone/>
                      </a:pPr>
                      <a:r>
                        <a:rPr lang="es-VE"/>
                        <a:t>A</a:t>
                      </a:r>
                      <a:r>
                        <a:rPr lang="es-VE"/>
                        <a:t>gente_id (FK)</a:t>
                      </a:r>
                      <a:endParaRPr/>
                    </a:p>
                  </a:txBody>
                  <a:tcPr marT="91425" marB="91425" marR="91425" marL="91425">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INT</a:t>
                      </a:r>
                      <a:endParaRPr/>
                    </a:p>
                  </a:txBody>
                  <a:tcPr marT="91425" marB="91425" marR="91425" marL="91425">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Llave foránea que indica el Agente captador (usuario.id).</a:t>
                      </a:r>
                      <a:endParaRPr/>
                    </a:p>
                  </a:txBody>
                  <a:tcPr marT="91425" marB="91425" marR="91425" marL="91425">
                    <a:lnB cap="flat" cmpd="sng" w="9525">
                      <a:solidFill>
                        <a:srgbClr val="9E9E9E"/>
                      </a:solidFill>
                      <a:prstDash val="solid"/>
                      <a:round/>
                      <a:headEnd len="sm" w="sm" type="none"/>
                      <a:tailEnd len="sm" w="sm" type="none"/>
                    </a:lnB>
                    <a:solidFill>
                      <a:srgbClr val="CFE2F3"/>
                    </a:solidFill>
                  </a:tcPr>
                </a:tc>
              </a:tr>
              <a:tr h="386000">
                <a:tc>
                  <a:txBody>
                    <a:bodyPr/>
                    <a:lstStyle/>
                    <a:p>
                      <a:pPr indent="0" lvl="0" marL="0" rtl="0" algn="l">
                        <a:spcBef>
                          <a:spcPts val="0"/>
                        </a:spcBef>
                        <a:spcAft>
                          <a:spcPts val="0"/>
                        </a:spcAft>
                        <a:buNone/>
                      </a:pPr>
                      <a:r>
                        <a:rPr lang="es-VE"/>
                        <a:t>tipo_operacion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Varchar(50)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Naturaleza comercial (Venta, Alquiler, etc.)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r>
              <a:tr h="593850">
                <a:tc>
                  <a:txBody>
                    <a:bodyPr/>
                    <a:lstStyle/>
                    <a:p>
                      <a:pPr indent="0" lvl="0" marL="0" rtl="0" algn="l">
                        <a:spcBef>
                          <a:spcPts val="0"/>
                        </a:spcBef>
                        <a:spcAft>
                          <a:spcPts val="0"/>
                        </a:spcAft>
                        <a:buNone/>
                      </a:pPr>
                      <a:r>
                        <a:rPr lang="es-VE"/>
                        <a:t>tipo_inmueble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Varchar(50)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Casa, Apartamento, Local Comercial, Terreno, etc.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r>
              <a:tr h="386000">
                <a:tc>
                  <a:txBody>
                    <a:bodyPr/>
                    <a:lstStyle/>
                    <a:p>
                      <a:pPr indent="0" lvl="0" marL="0" rtl="0" algn="l">
                        <a:spcBef>
                          <a:spcPts val="0"/>
                        </a:spcBef>
                        <a:spcAft>
                          <a:spcPts val="0"/>
                        </a:spcAft>
                        <a:buNone/>
                      </a:pPr>
                      <a:r>
                        <a:rPr lang="es-VE"/>
                        <a:t>direccion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VARCHAR(255)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Ubicación física exacta del inmueble.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r>
              <a:tr h="593850">
                <a:tc>
                  <a:txBody>
                    <a:bodyPr/>
                    <a:lstStyle/>
                    <a:p>
                      <a:pPr indent="0" lvl="0" marL="0" rtl="0" algn="l">
                        <a:spcBef>
                          <a:spcPts val="0"/>
                        </a:spcBef>
                        <a:spcAft>
                          <a:spcPts val="0"/>
                        </a:spcAft>
                        <a:buNone/>
                      </a:pPr>
                      <a:r>
                        <a:rPr lang="es-VE"/>
                        <a:t>precio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Numeric(12, 2)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Precio de venta o canon de arrendamiento mensual.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r>
              <a:tr h="593850">
                <a:tc>
                  <a:txBody>
                    <a:bodyPr/>
                    <a:lstStyle/>
                    <a:p>
                      <a:pPr indent="0" lvl="0" marL="0" rtl="0" algn="l">
                        <a:spcBef>
                          <a:spcPts val="0"/>
                        </a:spcBef>
                        <a:spcAft>
                          <a:spcPts val="0"/>
                        </a:spcAft>
                        <a:buNone/>
                      </a:pPr>
                      <a:r>
                        <a:rPr lang="es-VE"/>
                        <a:t>descripcion_general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TEXT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Detalles y características físicas del inmueble.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r>
              <a:tr h="671525">
                <a:tc>
                  <a:txBody>
                    <a:bodyPr/>
                    <a:lstStyle/>
                    <a:p>
                      <a:pPr indent="0" lvl="0" marL="0" rtl="0" algn="l">
                        <a:spcBef>
                          <a:spcPts val="0"/>
                        </a:spcBef>
                        <a:spcAft>
                          <a:spcPts val="0"/>
                        </a:spcAft>
                        <a:buNone/>
                      </a:pPr>
                      <a:r>
                        <a:rPr lang="es-VE"/>
                        <a:t>fotografias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TEXT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Cadena con los nombres de las imágenes subidas.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r>
              <a:tr h="497400">
                <a:tc>
                  <a:txBody>
                    <a:bodyPr/>
                    <a:lstStyle/>
                    <a:p>
                      <a:pPr indent="0" lvl="0" marL="0" rtl="0" algn="l">
                        <a:spcBef>
                          <a:spcPts val="0"/>
                        </a:spcBef>
                        <a:spcAft>
                          <a:spcPts val="0"/>
                        </a:spcAft>
                        <a:buNone/>
                      </a:pPr>
                      <a:r>
                        <a:rPr lang="es-VE"/>
                        <a:t>estatus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Varchar(20)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Estado actual comercial (Disponible, Vendido).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r>
              <a:tr h="435475">
                <a:tc>
                  <a:txBody>
                    <a:bodyPr/>
                    <a:lstStyle/>
                    <a:p>
                      <a:pPr indent="0" lvl="0" marL="0" rtl="0" algn="l">
                        <a:spcBef>
                          <a:spcPts val="0"/>
                        </a:spcBef>
                        <a:spcAft>
                          <a:spcPts val="0"/>
                        </a:spcAft>
                        <a:buNone/>
                      </a:pPr>
                      <a:r>
                        <a:rPr lang="es-VE"/>
                        <a:t>fecha_registro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DateTime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Fecha de ingreso de la propiedad al catálogo.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5"/>
          <p:cNvSpPr/>
          <p:nvPr/>
        </p:nvSpPr>
        <p:spPr>
          <a:xfrm>
            <a:off x="0" y="0"/>
            <a:ext cx="12192000" cy="503434"/>
          </a:xfrm>
          <a:prstGeom prst="rect">
            <a:avLst/>
          </a:prstGeom>
          <a:solidFill>
            <a:srgbClr val="1E4E79"/>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PROYECTO FINAL</a:t>
            </a:r>
            <a:endParaRPr sz="2400">
              <a:solidFill>
                <a:schemeClr val="lt1"/>
              </a:solidFill>
              <a:latin typeface="Calibri"/>
              <a:ea typeface="Calibri"/>
              <a:cs typeface="Calibri"/>
              <a:sym typeface="Calibri"/>
            </a:endParaRPr>
          </a:p>
        </p:txBody>
      </p:sp>
      <p:sp>
        <p:nvSpPr>
          <p:cNvPr id="223" name="Google Shape;223;p15"/>
          <p:cNvSpPr/>
          <p:nvPr/>
        </p:nvSpPr>
        <p:spPr>
          <a:xfrm>
            <a:off x="0" y="503434"/>
            <a:ext cx="12192000" cy="554804"/>
          </a:xfrm>
          <a:prstGeom prst="rect">
            <a:avLst/>
          </a:prstGeom>
          <a:solidFill>
            <a:srgbClr val="2E75B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lang="es-VE" sz="2400">
                <a:solidFill>
                  <a:schemeClr val="lt1"/>
                </a:solidFill>
                <a:latin typeface="Calibri"/>
                <a:ea typeface="Calibri"/>
                <a:cs typeface="Calibri"/>
                <a:sym typeface="Calibri"/>
              </a:rPr>
              <a:t>Diccionario de BD (Tabla Leads CRM)</a:t>
            </a:r>
            <a:endParaRPr sz="2400">
              <a:solidFill>
                <a:schemeClr val="lt1"/>
              </a:solidFill>
              <a:latin typeface="Calibri"/>
              <a:ea typeface="Calibri"/>
              <a:cs typeface="Calibri"/>
              <a:sym typeface="Calibri"/>
            </a:endParaRPr>
          </a:p>
        </p:txBody>
      </p:sp>
      <p:graphicFrame>
        <p:nvGraphicFramePr>
          <p:cNvPr id="224" name="Google Shape;224;p15"/>
          <p:cNvGraphicFramePr/>
          <p:nvPr/>
        </p:nvGraphicFramePr>
        <p:xfrm>
          <a:off x="178775" y="1160600"/>
          <a:ext cx="3000000" cy="3000000"/>
        </p:xfrm>
        <a:graphic>
          <a:graphicData uri="http://schemas.openxmlformats.org/drawingml/2006/table">
            <a:tbl>
              <a:tblPr>
                <a:noFill/>
                <a:tableStyleId>{E832FAEA-175A-40E4-AA56-F8DBB50E5F8A}</a:tableStyleId>
              </a:tblPr>
              <a:tblGrid>
                <a:gridCol w="3845625"/>
                <a:gridCol w="3845625"/>
                <a:gridCol w="3845625"/>
              </a:tblGrid>
              <a:tr h="506000">
                <a:tc>
                  <a:txBody>
                    <a:bodyPr/>
                    <a:lstStyle/>
                    <a:p>
                      <a:pPr indent="0" lvl="0" marL="0" rtl="0" algn="ctr">
                        <a:spcBef>
                          <a:spcPts val="0"/>
                        </a:spcBef>
                        <a:spcAft>
                          <a:spcPts val="0"/>
                        </a:spcAft>
                        <a:buNone/>
                      </a:pPr>
                      <a:r>
                        <a:rPr b="1" lang="es-VE">
                          <a:solidFill>
                            <a:schemeClr val="lt1"/>
                          </a:solidFill>
                        </a:rPr>
                        <a:t>CAMPO</a:t>
                      </a:r>
                      <a:endParaRPr b="1">
                        <a:solidFill>
                          <a:schemeClr val="lt1"/>
                        </a:solidFill>
                      </a:endParaRPr>
                    </a:p>
                  </a:txBody>
                  <a:tcPr marT="91425" marB="91425" marR="91425" marL="91425">
                    <a:solidFill>
                      <a:srgbClr val="0B5394"/>
                    </a:solidFill>
                  </a:tcPr>
                </a:tc>
                <a:tc>
                  <a:txBody>
                    <a:bodyPr/>
                    <a:lstStyle/>
                    <a:p>
                      <a:pPr indent="0" lvl="0" marL="0" rtl="0" algn="ctr">
                        <a:spcBef>
                          <a:spcPts val="0"/>
                        </a:spcBef>
                        <a:spcAft>
                          <a:spcPts val="0"/>
                        </a:spcAft>
                        <a:buNone/>
                      </a:pPr>
                      <a:r>
                        <a:rPr b="1" lang="es-VE">
                          <a:solidFill>
                            <a:schemeClr val="lt1"/>
                          </a:solidFill>
                        </a:rPr>
                        <a:t>TIPO</a:t>
                      </a:r>
                      <a:endParaRPr/>
                    </a:p>
                  </a:txBody>
                  <a:tcPr marT="91425" marB="91425" marR="91425" marL="91425">
                    <a:solidFill>
                      <a:srgbClr val="0B5394"/>
                    </a:solidFill>
                  </a:tcPr>
                </a:tc>
                <a:tc>
                  <a:txBody>
                    <a:bodyPr/>
                    <a:lstStyle/>
                    <a:p>
                      <a:pPr indent="0" lvl="0" marL="0" rtl="0" algn="ctr">
                        <a:spcBef>
                          <a:spcPts val="0"/>
                        </a:spcBef>
                        <a:spcAft>
                          <a:spcPts val="0"/>
                        </a:spcAft>
                        <a:buNone/>
                      </a:pPr>
                      <a:r>
                        <a:rPr b="1" lang="es-VE">
                          <a:solidFill>
                            <a:schemeClr val="lt1"/>
                          </a:solidFill>
                        </a:rPr>
                        <a:t>DESCRIPCIÓN</a:t>
                      </a:r>
                      <a:endParaRPr/>
                    </a:p>
                  </a:txBody>
                  <a:tcPr marT="91425" marB="91425" marR="91425" marL="91425">
                    <a:solidFill>
                      <a:srgbClr val="0B5394"/>
                    </a:solidFill>
                  </a:tcPr>
                </a:tc>
              </a:tr>
              <a:tr h="506000">
                <a:tc>
                  <a:txBody>
                    <a:bodyPr/>
                    <a:lstStyle/>
                    <a:p>
                      <a:pPr indent="0" lvl="0" marL="0" rtl="0" algn="l">
                        <a:spcBef>
                          <a:spcPts val="0"/>
                        </a:spcBef>
                        <a:spcAft>
                          <a:spcPts val="0"/>
                        </a:spcAft>
                        <a:buNone/>
                      </a:pPr>
                      <a:r>
                        <a:rPr lang="es-VE"/>
                        <a:t>id (PK)</a:t>
                      </a:r>
                      <a:endParaRPr/>
                    </a:p>
                  </a:txBody>
                  <a:tcPr marT="91425" marB="91425" marR="91425" marL="91425">
                    <a:solidFill>
                      <a:srgbClr val="9FC5E8"/>
                    </a:solidFill>
                  </a:tcPr>
                </a:tc>
                <a:tc>
                  <a:txBody>
                    <a:bodyPr/>
                    <a:lstStyle/>
                    <a:p>
                      <a:pPr indent="0" lvl="0" marL="0" rtl="0" algn="l">
                        <a:spcBef>
                          <a:spcPts val="0"/>
                        </a:spcBef>
                        <a:spcAft>
                          <a:spcPts val="0"/>
                        </a:spcAft>
                        <a:buNone/>
                      </a:pPr>
                      <a:r>
                        <a:rPr lang="es-VE"/>
                        <a:t>INT</a:t>
                      </a:r>
                      <a:endParaRPr/>
                    </a:p>
                  </a:txBody>
                  <a:tcPr marT="91425" marB="91425" marR="91425" marL="91425">
                    <a:solidFill>
                      <a:srgbClr val="9FC5E8"/>
                    </a:solidFill>
                  </a:tcPr>
                </a:tc>
                <a:tc>
                  <a:txBody>
                    <a:bodyPr/>
                    <a:lstStyle/>
                    <a:p>
                      <a:pPr indent="0" lvl="0" marL="0" rtl="0" algn="l">
                        <a:spcBef>
                          <a:spcPts val="0"/>
                        </a:spcBef>
                        <a:spcAft>
                          <a:spcPts val="0"/>
                        </a:spcAft>
                        <a:buNone/>
                      </a:pPr>
                      <a:r>
                        <a:rPr lang="es-VE"/>
                        <a:t>Identificador único del registro (Lead). </a:t>
                      </a:r>
                      <a:endParaRPr/>
                    </a:p>
                  </a:txBody>
                  <a:tcPr marT="91425" marB="91425" marR="91425" marL="91425">
                    <a:solidFill>
                      <a:srgbClr val="9FC5E8"/>
                    </a:solidFill>
                  </a:tcPr>
                </a:tc>
              </a:tr>
              <a:tr h="506000">
                <a:tc>
                  <a:txBody>
                    <a:bodyPr/>
                    <a:lstStyle/>
                    <a:p>
                      <a:pPr indent="0" lvl="0" marL="0" rtl="0" algn="l">
                        <a:spcBef>
                          <a:spcPts val="0"/>
                        </a:spcBef>
                        <a:spcAft>
                          <a:spcPts val="0"/>
                        </a:spcAft>
                        <a:buClr>
                          <a:schemeClr val="dk1"/>
                        </a:buClr>
                        <a:buSzPts val="1100"/>
                        <a:buFont typeface="Arial"/>
                        <a:buNone/>
                      </a:pPr>
                      <a:r>
                        <a:rPr lang="es-VE">
                          <a:solidFill>
                            <a:schemeClr val="dk1"/>
                          </a:solidFill>
                        </a:rPr>
                        <a:t>cliente_id (FK)</a:t>
                      </a:r>
                      <a:endParaRPr/>
                    </a:p>
                  </a:txBody>
                  <a:tcPr marT="91425" marB="91425" marR="91425" marL="91425">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INT</a:t>
                      </a:r>
                      <a:endParaRPr/>
                    </a:p>
                  </a:txBody>
                  <a:tcPr marT="91425" marB="91425" marR="91425" marL="91425">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Identificador del Cliente que consulta .</a:t>
                      </a:r>
                      <a:endParaRPr/>
                    </a:p>
                  </a:txBody>
                  <a:tcPr marT="91425" marB="91425" marR="91425" marL="91425">
                    <a:lnB cap="flat" cmpd="sng" w="9525">
                      <a:solidFill>
                        <a:srgbClr val="9E9E9E"/>
                      </a:solidFill>
                      <a:prstDash val="solid"/>
                      <a:round/>
                      <a:headEnd len="sm" w="sm" type="none"/>
                      <a:tailEnd len="sm" w="sm" type="none"/>
                    </a:lnB>
                    <a:solidFill>
                      <a:srgbClr val="CFE2F3"/>
                    </a:solidFill>
                  </a:tcPr>
                </a:tc>
              </a:tr>
              <a:tr h="506000">
                <a:tc>
                  <a:txBody>
                    <a:bodyPr/>
                    <a:lstStyle/>
                    <a:p>
                      <a:pPr indent="0" lvl="0" marL="0" rtl="0" algn="l">
                        <a:spcBef>
                          <a:spcPts val="0"/>
                        </a:spcBef>
                        <a:spcAft>
                          <a:spcPts val="0"/>
                        </a:spcAft>
                        <a:buNone/>
                      </a:pPr>
                      <a:r>
                        <a:rPr lang="es-VE"/>
                        <a:t>agente_id (</a:t>
                      </a:r>
                      <a:r>
                        <a:rPr lang="es-VE">
                          <a:solidFill>
                            <a:schemeClr val="dk1"/>
                          </a:solidFill>
                        </a:rPr>
                        <a:t>FK)</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INT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Identificador del Agente que debe responder.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r>
              <a:tr h="506000">
                <a:tc>
                  <a:txBody>
                    <a:bodyPr/>
                    <a:lstStyle/>
                    <a:p>
                      <a:pPr indent="0" lvl="0" marL="0" rtl="0" algn="l">
                        <a:spcBef>
                          <a:spcPts val="0"/>
                        </a:spcBef>
                        <a:spcAft>
                          <a:spcPts val="0"/>
                        </a:spcAft>
                        <a:buNone/>
                      </a:pPr>
                      <a:r>
                        <a:rPr lang="es-VE"/>
                        <a:t>inmueble_id </a:t>
                      </a:r>
                      <a:r>
                        <a:rPr lang="es-VE">
                          <a:solidFill>
                            <a:schemeClr val="dk1"/>
                          </a:solidFill>
                        </a:rPr>
                        <a:t>(FK)</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INT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Identificador de la propiedad consultada.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r>
              <a:tr h="621700">
                <a:tc>
                  <a:txBody>
                    <a:bodyPr/>
                    <a:lstStyle/>
                    <a:p>
                      <a:pPr indent="0" lvl="0" marL="0" rtl="0" algn="l">
                        <a:spcBef>
                          <a:spcPts val="0"/>
                        </a:spcBef>
                        <a:spcAft>
                          <a:spcPts val="0"/>
                        </a:spcAft>
                        <a:buNone/>
                      </a:pPr>
                      <a:r>
                        <a:rPr lang="es-VE"/>
                        <a:t>mensaje_cliente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TEXT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Consulta original redactada por el Cliente.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r>
              <a:tr h="506000">
                <a:tc>
                  <a:txBody>
                    <a:bodyPr/>
                    <a:lstStyle/>
                    <a:p>
                      <a:pPr indent="0" lvl="0" marL="0" rtl="0" algn="l">
                        <a:spcBef>
                          <a:spcPts val="0"/>
                        </a:spcBef>
                        <a:spcAft>
                          <a:spcPts val="0"/>
                        </a:spcAft>
                        <a:buNone/>
                      </a:pPr>
                      <a:r>
                        <a:rPr lang="es-VE"/>
                        <a:t>respuesta_agente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TEXT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Notas o seguimiento registrado por el Agente.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r>
              <a:tr h="506000">
                <a:tc>
                  <a:txBody>
                    <a:bodyPr/>
                    <a:lstStyle/>
                    <a:p>
                      <a:pPr indent="0" lvl="0" marL="0" rtl="0" algn="l">
                        <a:spcBef>
                          <a:spcPts val="0"/>
                        </a:spcBef>
                        <a:spcAft>
                          <a:spcPts val="0"/>
                        </a:spcAft>
                        <a:buNone/>
                      </a:pPr>
                      <a:r>
                        <a:rPr lang="es-VE"/>
                        <a:t>estatus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Varchar(30)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Fase de negociación (Nuevo, En Negociación, Descartado)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r>
              <a:tr h="506000">
                <a:tc>
                  <a:txBody>
                    <a:bodyPr/>
                    <a:lstStyle/>
                    <a:p>
                      <a:pPr indent="0" lvl="0" marL="0" rtl="0" algn="l">
                        <a:spcBef>
                          <a:spcPts val="0"/>
                        </a:spcBef>
                        <a:spcAft>
                          <a:spcPts val="0"/>
                        </a:spcAft>
                        <a:buNone/>
                      </a:pPr>
                      <a:r>
                        <a:rPr lang="es-VE">
                          <a:solidFill>
                            <a:schemeClr val="dk1"/>
                          </a:solidFill>
                        </a:rPr>
                        <a:t>fecha_registro </a:t>
                      </a:r>
                      <a:r>
                        <a:rPr lang="es-VE"/>
                        <a:t>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DateTime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Marca temporal de la creación de la consulta.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r>
              <a:tr h="506000">
                <a:tc>
                  <a:txBody>
                    <a:bodyPr/>
                    <a:lstStyle/>
                    <a:p>
                      <a:pPr indent="0" lvl="0" marL="0" rtl="0" algn="l">
                        <a:spcBef>
                          <a:spcPts val="0"/>
                        </a:spcBef>
                        <a:spcAft>
                          <a:spcPts val="0"/>
                        </a:spcAft>
                        <a:buClr>
                          <a:schemeClr val="dk1"/>
                        </a:buClr>
                        <a:buSzPts val="1100"/>
                        <a:buFont typeface="Arial"/>
                        <a:buNone/>
                      </a:pPr>
                      <a:r>
                        <a:rPr lang="es-VE">
                          <a:solidFill>
                            <a:schemeClr val="dk1"/>
                          </a:solidFill>
                        </a:rPr>
                        <a:t>fecha_actualizacion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solidFill>
                            <a:schemeClr val="dk1"/>
                          </a:solidFill>
                        </a:rPr>
                        <a:t>DateTime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Marca temporal de la última gestión del agente.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16"/>
          <p:cNvSpPr/>
          <p:nvPr/>
        </p:nvSpPr>
        <p:spPr>
          <a:xfrm>
            <a:off x="0" y="0"/>
            <a:ext cx="12192000" cy="503434"/>
          </a:xfrm>
          <a:prstGeom prst="rect">
            <a:avLst/>
          </a:prstGeom>
          <a:solidFill>
            <a:srgbClr val="1E4E79"/>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PROYECTO FINAL</a:t>
            </a:r>
            <a:endParaRPr sz="2400">
              <a:solidFill>
                <a:schemeClr val="lt1"/>
              </a:solidFill>
              <a:latin typeface="Calibri"/>
              <a:ea typeface="Calibri"/>
              <a:cs typeface="Calibri"/>
              <a:sym typeface="Calibri"/>
            </a:endParaRPr>
          </a:p>
        </p:txBody>
      </p:sp>
      <p:sp>
        <p:nvSpPr>
          <p:cNvPr id="230" name="Google Shape;230;p16"/>
          <p:cNvSpPr/>
          <p:nvPr/>
        </p:nvSpPr>
        <p:spPr>
          <a:xfrm>
            <a:off x="0" y="503434"/>
            <a:ext cx="12192000" cy="554804"/>
          </a:xfrm>
          <a:prstGeom prst="rect">
            <a:avLst/>
          </a:prstGeom>
          <a:solidFill>
            <a:srgbClr val="2E75B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lang="es-VE" sz="2400">
                <a:solidFill>
                  <a:schemeClr val="lt1"/>
                </a:solidFill>
                <a:latin typeface="Calibri"/>
                <a:ea typeface="Calibri"/>
                <a:cs typeface="Calibri"/>
                <a:sym typeface="Calibri"/>
              </a:rPr>
              <a:t>Diccionario de BD (Tabla Citas)</a:t>
            </a:r>
            <a:endParaRPr sz="2400">
              <a:solidFill>
                <a:schemeClr val="lt1"/>
              </a:solidFill>
              <a:latin typeface="Calibri"/>
              <a:ea typeface="Calibri"/>
              <a:cs typeface="Calibri"/>
              <a:sym typeface="Calibri"/>
            </a:endParaRPr>
          </a:p>
        </p:txBody>
      </p:sp>
      <p:graphicFrame>
        <p:nvGraphicFramePr>
          <p:cNvPr id="231" name="Google Shape;231;p16"/>
          <p:cNvGraphicFramePr/>
          <p:nvPr/>
        </p:nvGraphicFramePr>
        <p:xfrm>
          <a:off x="409800" y="1343000"/>
          <a:ext cx="3000000" cy="3000000"/>
        </p:xfrm>
        <a:graphic>
          <a:graphicData uri="http://schemas.openxmlformats.org/drawingml/2006/table">
            <a:tbl>
              <a:tblPr>
                <a:noFill/>
                <a:tableStyleId>{E832FAEA-175A-40E4-AA56-F8DBB50E5F8A}</a:tableStyleId>
              </a:tblPr>
              <a:tblGrid>
                <a:gridCol w="3845625"/>
                <a:gridCol w="3845625"/>
                <a:gridCol w="3845625"/>
              </a:tblGrid>
              <a:tr h="506000">
                <a:tc>
                  <a:txBody>
                    <a:bodyPr/>
                    <a:lstStyle/>
                    <a:p>
                      <a:pPr indent="0" lvl="0" marL="0" rtl="0" algn="ctr">
                        <a:spcBef>
                          <a:spcPts val="0"/>
                        </a:spcBef>
                        <a:spcAft>
                          <a:spcPts val="0"/>
                        </a:spcAft>
                        <a:buNone/>
                      </a:pPr>
                      <a:r>
                        <a:rPr b="1" lang="es-VE">
                          <a:solidFill>
                            <a:schemeClr val="lt1"/>
                          </a:solidFill>
                        </a:rPr>
                        <a:t>USUARIO</a:t>
                      </a:r>
                      <a:endParaRPr b="1">
                        <a:solidFill>
                          <a:schemeClr val="lt1"/>
                        </a:solidFill>
                      </a:endParaRPr>
                    </a:p>
                  </a:txBody>
                  <a:tcPr marT="91425" marB="91425" marR="91425" marL="91425">
                    <a:solidFill>
                      <a:srgbClr val="0B5394"/>
                    </a:solidFill>
                  </a:tcPr>
                </a:tc>
                <a:tc>
                  <a:txBody>
                    <a:bodyPr/>
                    <a:lstStyle/>
                    <a:p>
                      <a:pPr indent="0" lvl="0" marL="0" rtl="0" algn="ctr">
                        <a:spcBef>
                          <a:spcPts val="0"/>
                        </a:spcBef>
                        <a:spcAft>
                          <a:spcPts val="0"/>
                        </a:spcAft>
                        <a:buNone/>
                      </a:pPr>
                      <a:r>
                        <a:rPr b="1" lang="es-VE">
                          <a:solidFill>
                            <a:schemeClr val="lt1"/>
                          </a:solidFill>
                        </a:rPr>
                        <a:t>TIPO</a:t>
                      </a:r>
                      <a:endParaRPr/>
                    </a:p>
                  </a:txBody>
                  <a:tcPr marT="91425" marB="91425" marR="91425" marL="91425">
                    <a:solidFill>
                      <a:srgbClr val="0B5394"/>
                    </a:solidFill>
                  </a:tcPr>
                </a:tc>
                <a:tc>
                  <a:txBody>
                    <a:bodyPr/>
                    <a:lstStyle/>
                    <a:p>
                      <a:pPr indent="0" lvl="0" marL="0" rtl="0" algn="ctr">
                        <a:spcBef>
                          <a:spcPts val="0"/>
                        </a:spcBef>
                        <a:spcAft>
                          <a:spcPts val="0"/>
                        </a:spcAft>
                        <a:buNone/>
                      </a:pPr>
                      <a:r>
                        <a:rPr b="1" lang="es-VE">
                          <a:solidFill>
                            <a:schemeClr val="lt1"/>
                          </a:solidFill>
                        </a:rPr>
                        <a:t>DESCRIPCIÓN</a:t>
                      </a:r>
                      <a:endParaRPr/>
                    </a:p>
                  </a:txBody>
                  <a:tcPr marT="91425" marB="91425" marR="91425" marL="91425">
                    <a:solidFill>
                      <a:srgbClr val="0B5394"/>
                    </a:solidFill>
                  </a:tcPr>
                </a:tc>
              </a:tr>
              <a:tr h="506000">
                <a:tc>
                  <a:txBody>
                    <a:bodyPr/>
                    <a:lstStyle/>
                    <a:p>
                      <a:pPr indent="0" lvl="0" marL="0" rtl="0" algn="l">
                        <a:spcBef>
                          <a:spcPts val="0"/>
                        </a:spcBef>
                        <a:spcAft>
                          <a:spcPts val="0"/>
                        </a:spcAft>
                        <a:buNone/>
                      </a:pPr>
                      <a:r>
                        <a:rPr lang="es-VE"/>
                        <a:t>id (PK)</a:t>
                      </a:r>
                      <a:endParaRPr/>
                    </a:p>
                  </a:txBody>
                  <a:tcPr marT="91425" marB="91425" marR="91425" marL="91425">
                    <a:solidFill>
                      <a:srgbClr val="9FC5E8"/>
                    </a:solidFill>
                  </a:tcPr>
                </a:tc>
                <a:tc>
                  <a:txBody>
                    <a:bodyPr/>
                    <a:lstStyle/>
                    <a:p>
                      <a:pPr indent="0" lvl="0" marL="0" rtl="0" algn="l">
                        <a:spcBef>
                          <a:spcPts val="0"/>
                        </a:spcBef>
                        <a:spcAft>
                          <a:spcPts val="0"/>
                        </a:spcAft>
                        <a:buNone/>
                      </a:pPr>
                      <a:r>
                        <a:rPr lang="es-VE"/>
                        <a:t>INT</a:t>
                      </a:r>
                      <a:endParaRPr/>
                    </a:p>
                  </a:txBody>
                  <a:tcPr marT="91425" marB="91425" marR="91425" marL="91425">
                    <a:solidFill>
                      <a:srgbClr val="9FC5E8"/>
                    </a:solidFill>
                  </a:tcPr>
                </a:tc>
                <a:tc>
                  <a:txBody>
                    <a:bodyPr/>
                    <a:lstStyle/>
                    <a:p>
                      <a:pPr indent="0" lvl="0" marL="0" rtl="0" algn="l">
                        <a:spcBef>
                          <a:spcPts val="0"/>
                        </a:spcBef>
                        <a:spcAft>
                          <a:spcPts val="0"/>
                        </a:spcAft>
                        <a:buNone/>
                      </a:pPr>
                      <a:r>
                        <a:rPr lang="es-VE"/>
                        <a:t>Identificador único de la solicitud de visita </a:t>
                      </a:r>
                      <a:endParaRPr/>
                    </a:p>
                  </a:txBody>
                  <a:tcPr marT="91425" marB="91425" marR="91425" marL="91425">
                    <a:solidFill>
                      <a:srgbClr val="9FC5E8"/>
                    </a:solidFill>
                  </a:tcPr>
                </a:tc>
              </a:tr>
              <a:tr h="506000">
                <a:tc>
                  <a:txBody>
                    <a:bodyPr/>
                    <a:lstStyle/>
                    <a:p>
                      <a:pPr indent="0" lvl="0" marL="0" rtl="0" algn="l">
                        <a:spcBef>
                          <a:spcPts val="0"/>
                        </a:spcBef>
                        <a:spcAft>
                          <a:spcPts val="0"/>
                        </a:spcAft>
                        <a:buNone/>
                      </a:pPr>
                      <a:r>
                        <a:rPr lang="es-VE"/>
                        <a:t>inmueble_id (FK)</a:t>
                      </a:r>
                      <a:endParaRPr/>
                    </a:p>
                  </a:txBody>
                  <a:tcPr marT="91425" marB="91425" marR="91425" marL="91425">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solidFill>
                            <a:schemeClr val="dk1"/>
                          </a:solidFill>
                        </a:rPr>
                        <a:t>INT</a:t>
                      </a:r>
                      <a:endParaRPr/>
                    </a:p>
                  </a:txBody>
                  <a:tcPr marT="91425" marB="91425" marR="91425" marL="91425">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Identificador de la propiedad a visitar </a:t>
                      </a:r>
                      <a:endParaRPr/>
                    </a:p>
                  </a:txBody>
                  <a:tcPr marT="91425" marB="91425" marR="91425" marL="91425">
                    <a:lnB cap="flat" cmpd="sng" w="9525">
                      <a:solidFill>
                        <a:srgbClr val="9E9E9E"/>
                      </a:solidFill>
                      <a:prstDash val="solid"/>
                      <a:round/>
                      <a:headEnd len="sm" w="sm" type="none"/>
                      <a:tailEnd len="sm" w="sm" type="none"/>
                    </a:lnB>
                    <a:solidFill>
                      <a:srgbClr val="CFE2F3"/>
                    </a:solidFill>
                  </a:tcPr>
                </a:tc>
              </a:tr>
              <a:tr h="506000">
                <a:tc>
                  <a:txBody>
                    <a:bodyPr/>
                    <a:lstStyle/>
                    <a:p>
                      <a:pPr indent="0" lvl="0" marL="0" rtl="0" algn="l">
                        <a:spcBef>
                          <a:spcPts val="0"/>
                        </a:spcBef>
                        <a:spcAft>
                          <a:spcPts val="0"/>
                        </a:spcAft>
                        <a:buNone/>
                      </a:pPr>
                      <a:r>
                        <a:rPr lang="es-VE"/>
                        <a:t>cliente_id (FK)</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solidFill>
                            <a:schemeClr val="dk1"/>
                          </a:solidFill>
                        </a:rPr>
                        <a:t>INT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Identificador del Cliente solicitante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r>
              <a:tr h="506000">
                <a:tc>
                  <a:txBody>
                    <a:bodyPr/>
                    <a:lstStyle/>
                    <a:p>
                      <a:pPr indent="0" lvl="0" marL="0" rtl="0" algn="l">
                        <a:spcBef>
                          <a:spcPts val="0"/>
                        </a:spcBef>
                        <a:spcAft>
                          <a:spcPts val="0"/>
                        </a:spcAft>
                        <a:buNone/>
                      </a:pPr>
                      <a:r>
                        <a:rPr lang="es-VE"/>
                        <a:t>agente_id (FK)</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solidFill>
                            <a:schemeClr val="dk1"/>
                          </a:solidFill>
                        </a:rPr>
                        <a:t>INT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Identificador del Agente encargado de mostrarla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r>
              <a:tr h="506000">
                <a:tc>
                  <a:txBody>
                    <a:bodyPr/>
                    <a:lstStyle/>
                    <a:p>
                      <a:pPr indent="0" lvl="0" marL="0" rtl="0" algn="l">
                        <a:spcBef>
                          <a:spcPts val="0"/>
                        </a:spcBef>
                        <a:spcAft>
                          <a:spcPts val="0"/>
                        </a:spcAft>
                        <a:buNone/>
                      </a:pPr>
                      <a:r>
                        <a:rPr lang="es-VE"/>
                        <a:t>fecha_hora</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DateTime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Día y hora propuesta para el recorrido físico.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r>
              <a:tr h="506000">
                <a:tc>
                  <a:txBody>
                    <a:bodyPr/>
                    <a:lstStyle/>
                    <a:p>
                      <a:pPr indent="0" lvl="0" marL="0" rtl="0" algn="l">
                        <a:spcBef>
                          <a:spcPts val="0"/>
                        </a:spcBef>
                        <a:spcAft>
                          <a:spcPts val="0"/>
                        </a:spcAft>
                        <a:buNone/>
                      </a:pPr>
                      <a:r>
                        <a:rPr lang="es-VE"/>
                        <a:t>telefono_contacto</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Varchar(30)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Número telefónico provisto por el cliente para el día.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r>
              <a:tr h="506000">
                <a:tc>
                  <a:txBody>
                    <a:bodyPr/>
                    <a:lstStyle/>
                    <a:p>
                      <a:pPr indent="0" lvl="0" marL="0" rtl="0" algn="l">
                        <a:spcBef>
                          <a:spcPts val="0"/>
                        </a:spcBef>
                        <a:spcAft>
                          <a:spcPts val="0"/>
                        </a:spcAft>
                        <a:buNone/>
                      </a:pPr>
                      <a:r>
                        <a:rPr lang="es-VE"/>
                        <a:t>comentarios</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Text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Instrucciones adicionales dejadas por el cliente.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r>
              <a:tr h="506000">
                <a:tc>
                  <a:txBody>
                    <a:bodyPr/>
                    <a:lstStyle/>
                    <a:p>
                      <a:pPr indent="0" lvl="0" marL="0" rtl="0" algn="l">
                        <a:spcBef>
                          <a:spcPts val="0"/>
                        </a:spcBef>
                        <a:spcAft>
                          <a:spcPts val="0"/>
                        </a:spcAft>
                        <a:buNone/>
                      </a:pPr>
                      <a:r>
                        <a:rPr lang="es-VE"/>
                        <a:t>estatus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Varchar(20)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Estado de la solicitud (Pendiente, Confirmada, Cancelada).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r>
              <a:tr h="506000">
                <a:tc>
                  <a:txBody>
                    <a:bodyPr/>
                    <a:lstStyle/>
                    <a:p>
                      <a:pPr indent="0" lvl="0" marL="0" rtl="0" algn="l">
                        <a:spcBef>
                          <a:spcPts val="0"/>
                        </a:spcBef>
                        <a:spcAft>
                          <a:spcPts val="0"/>
                        </a:spcAft>
                        <a:buNone/>
                      </a:pPr>
                      <a:r>
                        <a:rPr lang="es-VE"/>
                        <a:t>fecha_solicitud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DateTime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Fecha en la que el cliente envió el formulario.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7"/>
          <p:cNvSpPr/>
          <p:nvPr/>
        </p:nvSpPr>
        <p:spPr>
          <a:xfrm>
            <a:off x="0" y="0"/>
            <a:ext cx="12192000" cy="503434"/>
          </a:xfrm>
          <a:prstGeom prst="rect">
            <a:avLst/>
          </a:prstGeom>
          <a:solidFill>
            <a:srgbClr val="1E4E79"/>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PROYECTO FINAL</a:t>
            </a:r>
            <a:endParaRPr sz="2400">
              <a:solidFill>
                <a:schemeClr val="lt1"/>
              </a:solidFill>
              <a:latin typeface="Calibri"/>
              <a:ea typeface="Calibri"/>
              <a:cs typeface="Calibri"/>
              <a:sym typeface="Calibri"/>
            </a:endParaRPr>
          </a:p>
        </p:txBody>
      </p:sp>
      <p:sp>
        <p:nvSpPr>
          <p:cNvPr id="237" name="Google Shape;237;p17"/>
          <p:cNvSpPr/>
          <p:nvPr/>
        </p:nvSpPr>
        <p:spPr>
          <a:xfrm>
            <a:off x="0" y="503434"/>
            <a:ext cx="12192000" cy="554804"/>
          </a:xfrm>
          <a:prstGeom prst="rect">
            <a:avLst/>
          </a:prstGeom>
          <a:solidFill>
            <a:srgbClr val="2E75B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rtl="0" algn="ctr">
              <a:spcBef>
                <a:spcPts val="0"/>
              </a:spcBef>
              <a:spcAft>
                <a:spcPts val="0"/>
              </a:spcAft>
              <a:buClr>
                <a:schemeClr val="dk1"/>
              </a:buClr>
              <a:buFont typeface="Arial"/>
              <a:buNone/>
            </a:pPr>
            <a:r>
              <a:rPr lang="es-VE" sz="2400">
                <a:solidFill>
                  <a:schemeClr val="lt1"/>
                </a:solidFill>
                <a:latin typeface="Calibri"/>
                <a:ea typeface="Calibri"/>
                <a:cs typeface="Calibri"/>
                <a:sym typeface="Calibri"/>
              </a:rPr>
              <a:t>Diccionario de BD (Tabla ventas)</a:t>
            </a:r>
            <a:endParaRPr sz="2400">
              <a:solidFill>
                <a:schemeClr val="lt1"/>
              </a:solidFill>
              <a:latin typeface="Calibri"/>
              <a:ea typeface="Calibri"/>
              <a:cs typeface="Calibri"/>
              <a:sym typeface="Calibri"/>
            </a:endParaRPr>
          </a:p>
        </p:txBody>
      </p:sp>
      <p:graphicFrame>
        <p:nvGraphicFramePr>
          <p:cNvPr id="238" name="Google Shape;238;p17"/>
          <p:cNvGraphicFramePr/>
          <p:nvPr/>
        </p:nvGraphicFramePr>
        <p:xfrm>
          <a:off x="409800" y="1343000"/>
          <a:ext cx="3000000" cy="3000000"/>
        </p:xfrm>
        <a:graphic>
          <a:graphicData uri="http://schemas.openxmlformats.org/drawingml/2006/table">
            <a:tbl>
              <a:tblPr>
                <a:noFill/>
                <a:tableStyleId>{E832FAEA-175A-40E4-AA56-F8DBB50E5F8A}</a:tableStyleId>
              </a:tblPr>
              <a:tblGrid>
                <a:gridCol w="3845625"/>
                <a:gridCol w="3845625"/>
                <a:gridCol w="3845625"/>
              </a:tblGrid>
              <a:tr h="506000">
                <a:tc>
                  <a:txBody>
                    <a:bodyPr/>
                    <a:lstStyle/>
                    <a:p>
                      <a:pPr indent="0" lvl="0" marL="0" rtl="0" algn="ctr">
                        <a:spcBef>
                          <a:spcPts val="0"/>
                        </a:spcBef>
                        <a:spcAft>
                          <a:spcPts val="0"/>
                        </a:spcAft>
                        <a:buNone/>
                      </a:pPr>
                      <a:r>
                        <a:rPr b="1" lang="es-VE">
                          <a:solidFill>
                            <a:schemeClr val="lt1"/>
                          </a:solidFill>
                        </a:rPr>
                        <a:t>USUARIO</a:t>
                      </a:r>
                      <a:endParaRPr b="1">
                        <a:solidFill>
                          <a:schemeClr val="lt1"/>
                        </a:solidFill>
                      </a:endParaRPr>
                    </a:p>
                  </a:txBody>
                  <a:tcPr marT="91425" marB="91425" marR="91425" marL="91425">
                    <a:lnB cap="flat" cmpd="sng" w="9525">
                      <a:solidFill>
                        <a:srgbClr val="9E9E9E"/>
                      </a:solidFill>
                      <a:prstDash val="solid"/>
                      <a:round/>
                      <a:headEnd len="sm" w="sm" type="none"/>
                      <a:tailEnd len="sm" w="sm" type="none"/>
                    </a:lnB>
                    <a:solidFill>
                      <a:srgbClr val="0B5394"/>
                    </a:solidFill>
                  </a:tcPr>
                </a:tc>
                <a:tc>
                  <a:txBody>
                    <a:bodyPr/>
                    <a:lstStyle/>
                    <a:p>
                      <a:pPr indent="0" lvl="0" marL="0" rtl="0" algn="ctr">
                        <a:spcBef>
                          <a:spcPts val="0"/>
                        </a:spcBef>
                        <a:spcAft>
                          <a:spcPts val="0"/>
                        </a:spcAft>
                        <a:buNone/>
                      </a:pPr>
                      <a:r>
                        <a:rPr b="1" lang="es-VE">
                          <a:solidFill>
                            <a:schemeClr val="lt1"/>
                          </a:solidFill>
                        </a:rPr>
                        <a:t>TIPO</a:t>
                      </a:r>
                      <a:endParaRPr/>
                    </a:p>
                  </a:txBody>
                  <a:tcPr marT="91425" marB="91425" marR="91425" marL="91425">
                    <a:lnB cap="flat" cmpd="sng" w="9525">
                      <a:solidFill>
                        <a:srgbClr val="9E9E9E"/>
                      </a:solidFill>
                      <a:prstDash val="solid"/>
                      <a:round/>
                      <a:headEnd len="sm" w="sm" type="none"/>
                      <a:tailEnd len="sm" w="sm" type="none"/>
                    </a:lnB>
                    <a:solidFill>
                      <a:srgbClr val="0B5394"/>
                    </a:solidFill>
                  </a:tcPr>
                </a:tc>
                <a:tc>
                  <a:txBody>
                    <a:bodyPr/>
                    <a:lstStyle/>
                    <a:p>
                      <a:pPr indent="0" lvl="0" marL="0" rtl="0" algn="ctr">
                        <a:spcBef>
                          <a:spcPts val="0"/>
                        </a:spcBef>
                        <a:spcAft>
                          <a:spcPts val="0"/>
                        </a:spcAft>
                        <a:buNone/>
                      </a:pPr>
                      <a:r>
                        <a:rPr b="1" lang="es-VE">
                          <a:solidFill>
                            <a:schemeClr val="lt1"/>
                          </a:solidFill>
                        </a:rPr>
                        <a:t>DESCRIPCIÓN</a:t>
                      </a:r>
                      <a:endParaRPr/>
                    </a:p>
                  </a:txBody>
                  <a:tcPr marT="91425" marB="91425" marR="91425" marL="91425">
                    <a:solidFill>
                      <a:srgbClr val="0B5394"/>
                    </a:solidFill>
                  </a:tcPr>
                </a:tc>
              </a:tr>
              <a:tr h="506000">
                <a:tc>
                  <a:txBody>
                    <a:bodyPr/>
                    <a:lstStyle/>
                    <a:p>
                      <a:pPr indent="0" lvl="0" marL="0" rtl="0" algn="l">
                        <a:spcBef>
                          <a:spcPts val="0"/>
                        </a:spcBef>
                        <a:spcAft>
                          <a:spcPts val="0"/>
                        </a:spcAft>
                        <a:buNone/>
                      </a:pPr>
                      <a:r>
                        <a:rPr lang="es-VE"/>
                        <a:t>id (PK)</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INT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Identificador único de la transacción de venta. </a:t>
                      </a:r>
                      <a:endParaRPr/>
                    </a:p>
                  </a:txBody>
                  <a:tcPr marT="91425" marB="91425" marR="91425" marL="91425">
                    <a:lnL cap="flat" cmpd="sng" w="9525">
                      <a:solidFill>
                        <a:srgbClr val="9E9E9E"/>
                      </a:solidFill>
                      <a:prstDash val="solid"/>
                      <a:round/>
                      <a:headEnd len="sm" w="sm" type="none"/>
                      <a:tailEnd len="sm" w="sm" type="none"/>
                    </a:lnL>
                    <a:solidFill>
                      <a:srgbClr val="9FC5E8"/>
                    </a:solidFill>
                  </a:tcPr>
                </a:tc>
              </a:tr>
              <a:tr h="506000">
                <a:tc>
                  <a:txBody>
                    <a:bodyPr/>
                    <a:lstStyle/>
                    <a:p>
                      <a:pPr indent="0" lvl="0" marL="0" rtl="0" algn="l">
                        <a:spcBef>
                          <a:spcPts val="0"/>
                        </a:spcBef>
                        <a:spcAft>
                          <a:spcPts val="0"/>
                        </a:spcAft>
                        <a:buNone/>
                      </a:pPr>
                      <a:r>
                        <a:rPr lang="es-VE"/>
                        <a:t>inmueble_id (FK)</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solidFill>
                            <a:schemeClr val="dk1"/>
                          </a:solidFill>
                        </a:rPr>
                        <a:t>INT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Propiedad que fue formalmente vendida.</a:t>
                      </a:r>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solidFill>
                      <a:srgbClr val="CFE2F3"/>
                    </a:solidFill>
                  </a:tcPr>
                </a:tc>
              </a:tr>
              <a:tr h="506000">
                <a:tc>
                  <a:txBody>
                    <a:bodyPr/>
                    <a:lstStyle/>
                    <a:p>
                      <a:pPr indent="0" lvl="0" marL="0" rtl="0" algn="l">
                        <a:spcBef>
                          <a:spcPts val="0"/>
                        </a:spcBef>
                        <a:spcAft>
                          <a:spcPts val="0"/>
                        </a:spcAft>
                        <a:buClr>
                          <a:schemeClr val="dk1"/>
                        </a:buClr>
                        <a:buSzPts val="1100"/>
                        <a:buFont typeface="Arial"/>
                        <a:buNone/>
                      </a:pPr>
                      <a:r>
                        <a:rPr lang="es-VE">
                          <a:solidFill>
                            <a:schemeClr val="dk1"/>
                          </a:solidFill>
                        </a:rPr>
                        <a:t>agente_id (FK)</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solidFill>
                            <a:schemeClr val="dk1"/>
                          </a:solidFill>
                        </a:rPr>
                        <a:t>INT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Agente que cerró la operación comercial.</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r>
              <a:tr h="506000">
                <a:tc>
                  <a:txBody>
                    <a:bodyPr/>
                    <a:lstStyle/>
                    <a:p>
                      <a:pPr indent="0" lvl="0" marL="0" rtl="0" algn="l">
                        <a:spcBef>
                          <a:spcPts val="0"/>
                        </a:spcBef>
                        <a:spcAft>
                          <a:spcPts val="0"/>
                        </a:spcAft>
                        <a:buNone/>
                      </a:pPr>
                      <a:r>
                        <a:rPr lang="es-VE"/>
                        <a:t>fecha_venta</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solidFill>
                            <a:schemeClr val="dk1"/>
                          </a:solidFill>
                        </a:rPr>
                        <a:t>DateTime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Marca temporal de la formalización del cierre.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r>
              <a:tr h="506000">
                <a:tc>
                  <a:txBody>
                    <a:bodyPr/>
                    <a:lstStyle/>
                    <a:p>
                      <a:pPr indent="0" lvl="0" marL="0" rtl="0" algn="l">
                        <a:spcBef>
                          <a:spcPts val="0"/>
                        </a:spcBef>
                        <a:spcAft>
                          <a:spcPts val="0"/>
                        </a:spcAft>
                        <a:buNone/>
                      </a:pPr>
                      <a:r>
                        <a:rPr lang="es-VE"/>
                        <a:t>monto_final</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Clr>
                          <a:schemeClr val="dk1"/>
                        </a:buClr>
                        <a:buSzPts val="1100"/>
                        <a:buFont typeface="Arial"/>
                        <a:buNone/>
                      </a:pPr>
                      <a:r>
                        <a:rPr lang="es-VE">
                          <a:solidFill>
                            <a:schemeClr val="dk1"/>
                          </a:solidFill>
                        </a:rPr>
                        <a:t>Float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Valor económico real por el cual se cerró la venta.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r>
              <a:tr h="506000">
                <a:tc>
                  <a:txBody>
                    <a:bodyPr/>
                    <a:lstStyle/>
                    <a:p>
                      <a:pPr indent="0" lvl="0" marL="0" rtl="0" algn="l">
                        <a:spcBef>
                          <a:spcPts val="0"/>
                        </a:spcBef>
                        <a:spcAft>
                          <a:spcPts val="0"/>
                        </a:spcAft>
                        <a:buNone/>
                      </a:pPr>
                      <a:r>
                        <a:rPr lang="es-VE"/>
                        <a:t>porcentaje_comision</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Float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c>
                  <a:txBody>
                    <a:bodyPr/>
                    <a:lstStyle/>
                    <a:p>
                      <a:pPr indent="0" lvl="0" marL="0" rtl="0" algn="l">
                        <a:spcBef>
                          <a:spcPts val="0"/>
                        </a:spcBef>
                        <a:spcAft>
                          <a:spcPts val="0"/>
                        </a:spcAft>
                        <a:buNone/>
                      </a:pPr>
                      <a:r>
                        <a:rPr lang="es-VE"/>
                        <a:t>Tasa pactada de honorarios (Valor por defecto: 5.0).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FE2F3"/>
                    </a:solidFill>
                  </a:tcPr>
                </a:tc>
              </a:tr>
              <a:tr h="506000">
                <a:tc>
                  <a:txBody>
                    <a:bodyPr/>
                    <a:lstStyle/>
                    <a:p>
                      <a:pPr indent="0" lvl="0" marL="0" rtl="0" algn="l">
                        <a:spcBef>
                          <a:spcPts val="0"/>
                        </a:spcBef>
                        <a:spcAft>
                          <a:spcPts val="0"/>
                        </a:spcAft>
                        <a:buNone/>
                      </a:pPr>
                      <a:r>
                        <a:rPr lang="es-VE"/>
                        <a:t>comision_agente</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Clr>
                          <a:schemeClr val="dk1"/>
                        </a:buClr>
                        <a:buSzPts val="1100"/>
                        <a:buFont typeface="Arial"/>
                        <a:buNone/>
                      </a:pPr>
                      <a:r>
                        <a:rPr lang="es-VE">
                          <a:solidFill>
                            <a:schemeClr val="dk1"/>
                          </a:solidFill>
                        </a:rPr>
                        <a:t>Float</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c>
                  <a:txBody>
                    <a:bodyPr/>
                    <a:lstStyle/>
                    <a:p>
                      <a:pPr indent="0" lvl="0" marL="0" rtl="0" algn="l">
                        <a:spcBef>
                          <a:spcPts val="0"/>
                        </a:spcBef>
                        <a:spcAft>
                          <a:spcPts val="0"/>
                        </a:spcAft>
                        <a:buNone/>
                      </a:pPr>
                      <a:r>
                        <a:rPr lang="es-VE"/>
                        <a:t>Monto neto calculado y adeudado al Agente Inmobiliario. </a:t>
                      </a:r>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9FC5E8"/>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f8df748cd3_0_82"/>
          <p:cNvSpPr/>
          <p:nvPr/>
        </p:nvSpPr>
        <p:spPr>
          <a:xfrm>
            <a:off x="0" y="0"/>
            <a:ext cx="12192000" cy="503400"/>
          </a:xfrm>
          <a:prstGeom prst="rect">
            <a:avLst/>
          </a:prstGeom>
          <a:solidFill>
            <a:srgbClr val="1E4E79"/>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PROYECTO FINAL</a:t>
            </a:r>
            <a:endParaRPr sz="2400">
              <a:solidFill>
                <a:schemeClr val="lt1"/>
              </a:solidFill>
              <a:latin typeface="Calibri"/>
              <a:ea typeface="Calibri"/>
              <a:cs typeface="Calibri"/>
              <a:sym typeface="Calibri"/>
            </a:endParaRPr>
          </a:p>
        </p:txBody>
      </p:sp>
      <p:sp>
        <p:nvSpPr>
          <p:cNvPr id="244" name="Google Shape;244;g3f8df748cd3_0_82"/>
          <p:cNvSpPr/>
          <p:nvPr/>
        </p:nvSpPr>
        <p:spPr>
          <a:xfrm>
            <a:off x="0" y="503434"/>
            <a:ext cx="12192000" cy="554700"/>
          </a:xfrm>
          <a:prstGeom prst="rect">
            <a:avLst/>
          </a:prstGeom>
          <a:solidFill>
            <a:srgbClr val="2E75B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Ficha de Proceso Registrar un inmueble</a:t>
            </a:r>
            <a:endParaRPr sz="2400">
              <a:solidFill>
                <a:schemeClr val="lt1"/>
              </a:solidFill>
              <a:latin typeface="Calibri"/>
              <a:ea typeface="Calibri"/>
              <a:cs typeface="Calibri"/>
              <a:sym typeface="Calibri"/>
            </a:endParaRPr>
          </a:p>
        </p:txBody>
      </p:sp>
      <p:pic>
        <p:nvPicPr>
          <p:cNvPr id="245" name="Google Shape;245;g3f8df748cd3_0_82"/>
          <p:cNvPicPr preferRelativeResize="0"/>
          <p:nvPr/>
        </p:nvPicPr>
        <p:blipFill>
          <a:blip r:embed="rId3">
            <a:alphaModFix/>
          </a:blip>
          <a:stretch>
            <a:fillRect/>
          </a:stretch>
        </p:blipFill>
        <p:spPr>
          <a:xfrm>
            <a:off x="1037613" y="1058150"/>
            <a:ext cx="10116775" cy="57243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f8df748cd3_0_117"/>
          <p:cNvSpPr/>
          <p:nvPr/>
        </p:nvSpPr>
        <p:spPr>
          <a:xfrm>
            <a:off x="0" y="0"/>
            <a:ext cx="12192000" cy="503400"/>
          </a:xfrm>
          <a:prstGeom prst="rect">
            <a:avLst/>
          </a:prstGeom>
          <a:solidFill>
            <a:srgbClr val="1E4E79"/>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PROYECTO FINAL</a:t>
            </a:r>
            <a:endParaRPr sz="2400">
              <a:solidFill>
                <a:schemeClr val="lt1"/>
              </a:solidFill>
              <a:latin typeface="Calibri"/>
              <a:ea typeface="Calibri"/>
              <a:cs typeface="Calibri"/>
              <a:sym typeface="Calibri"/>
            </a:endParaRPr>
          </a:p>
        </p:txBody>
      </p:sp>
      <p:sp>
        <p:nvSpPr>
          <p:cNvPr id="251" name="Google Shape;251;g3f8df748cd3_0_117"/>
          <p:cNvSpPr/>
          <p:nvPr/>
        </p:nvSpPr>
        <p:spPr>
          <a:xfrm>
            <a:off x="0" y="503434"/>
            <a:ext cx="12192000" cy="554700"/>
          </a:xfrm>
          <a:prstGeom prst="rect">
            <a:avLst/>
          </a:prstGeom>
          <a:solidFill>
            <a:srgbClr val="2E75B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INTERFACES DE ENTRADA / SALIDA</a:t>
            </a:r>
            <a:endParaRPr sz="2400">
              <a:solidFill>
                <a:schemeClr val="lt1"/>
              </a:solidFill>
              <a:latin typeface="Calibri"/>
              <a:ea typeface="Calibri"/>
              <a:cs typeface="Calibri"/>
              <a:sym typeface="Calibri"/>
            </a:endParaRPr>
          </a:p>
        </p:txBody>
      </p:sp>
      <p:pic>
        <p:nvPicPr>
          <p:cNvPr id="252" name="Google Shape;252;g3f8df748cd3_0_117"/>
          <p:cNvPicPr preferRelativeResize="0"/>
          <p:nvPr/>
        </p:nvPicPr>
        <p:blipFill>
          <a:blip r:embed="rId3">
            <a:alphaModFix/>
          </a:blip>
          <a:stretch>
            <a:fillRect/>
          </a:stretch>
        </p:blipFill>
        <p:spPr>
          <a:xfrm>
            <a:off x="456400" y="1210546"/>
            <a:ext cx="5248275" cy="5429250"/>
          </a:xfrm>
          <a:prstGeom prst="rect">
            <a:avLst/>
          </a:prstGeom>
          <a:noFill/>
          <a:ln>
            <a:noFill/>
          </a:ln>
        </p:spPr>
      </p:pic>
      <p:pic>
        <p:nvPicPr>
          <p:cNvPr id="253" name="Google Shape;253;g3f8df748cd3_0_117"/>
          <p:cNvPicPr preferRelativeResize="0"/>
          <p:nvPr/>
        </p:nvPicPr>
        <p:blipFill>
          <a:blip r:embed="rId4">
            <a:alphaModFix/>
          </a:blip>
          <a:stretch>
            <a:fillRect/>
          </a:stretch>
        </p:blipFill>
        <p:spPr>
          <a:xfrm>
            <a:off x="6258350" y="1177621"/>
            <a:ext cx="4905352" cy="549506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1"/>
          <p:cNvSpPr/>
          <p:nvPr/>
        </p:nvSpPr>
        <p:spPr>
          <a:xfrm>
            <a:off x="0" y="0"/>
            <a:ext cx="12192000" cy="503434"/>
          </a:xfrm>
          <a:prstGeom prst="rect">
            <a:avLst/>
          </a:prstGeom>
          <a:solidFill>
            <a:srgbClr val="1E4E79"/>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PROYECTO FINAL</a:t>
            </a:r>
            <a:endParaRPr sz="2400">
              <a:solidFill>
                <a:schemeClr val="lt1"/>
              </a:solidFill>
              <a:latin typeface="Calibri"/>
              <a:ea typeface="Calibri"/>
              <a:cs typeface="Calibri"/>
              <a:sym typeface="Calibri"/>
            </a:endParaRPr>
          </a:p>
        </p:txBody>
      </p:sp>
      <p:sp>
        <p:nvSpPr>
          <p:cNvPr id="259" name="Google Shape;259;p21"/>
          <p:cNvSpPr/>
          <p:nvPr/>
        </p:nvSpPr>
        <p:spPr>
          <a:xfrm>
            <a:off x="0" y="503434"/>
            <a:ext cx="12192000" cy="554804"/>
          </a:xfrm>
          <a:prstGeom prst="rect">
            <a:avLst/>
          </a:prstGeom>
          <a:solidFill>
            <a:srgbClr val="2E75B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PRUEBAS  DEL SISTEMAS </a:t>
            </a:r>
            <a:endParaRPr sz="2400">
              <a:solidFill>
                <a:schemeClr val="lt1"/>
              </a:solidFill>
              <a:latin typeface="Calibri"/>
              <a:ea typeface="Calibri"/>
              <a:cs typeface="Calibri"/>
              <a:sym typeface="Calibri"/>
            </a:endParaRPr>
          </a:p>
        </p:txBody>
      </p:sp>
      <p:sp>
        <p:nvSpPr>
          <p:cNvPr id="260" name="Google Shape;260;p21"/>
          <p:cNvSpPr txBox="1"/>
          <p:nvPr/>
        </p:nvSpPr>
        <p:spPr>
          <a:xfrm>
            <a:off x="385425" y="1382225"/>
            <a:ext cx="11242500" cy="518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s-VE" sz="1800">
                <a:solidFill>
                  <a:schemeClr val="dk1"/>
                </a:solidFill>
              </a:rPr>
              <a:t>En correspondencia con la metodología de Llorens (1991), la Fase IV del proyecto estuvo dedicada a validar el desempeño general de la plataforma INSICA. Antes de su implementación en el entorno de producción, el sistema fue sometido a un riguroso entorno de pruebas diseñado para asegurar la integridad de las transacciones inmobiliarias y garantizar que no ocurrieran caídas en el servidor durante su uso.</a:t>
            </a:r>
            <a:endParaRPr sz="1800">
              <a:solidFill>
                <a:schemeClr val="dk1"/>
              </a:solidFill>
            </a:endParaRPr>
          </a:p>
          <a:p>
            <a:pPr indent="0" lvl="0" marL="0" rtl="0" algn="l">
              <a:lnSpc>
                <a:spcPct val="115000"/>
              </a:lnSpc>
              <a:spcBef>
                <a:spcPts val="1200"/>
              </a:spcBef>
              <a:spcAft>
                <a:spcPts val="0"/>
              </a:spcAft>
              <a:buNone/>
            </a:pPr>
            <a:r>
              <a:rPr lang="es-VE" sz="1800">
                <a:solidFill>
                  <a:schemeClr val="dk1"/>
                </a:solidFill>
              </a:rPr>
              <a:t>Para lograr este objetivo, se aplicaron pruebas de caja negra enfocadas en evaluar las entradas y salidas de datos a través de las interfaces gráficas. Estas validaciones funcionales permitieron comprobar la robustez de los módulos individuales, garantizando que los Agentes Inmobiliarios pudieran registrar propiedades sin errores, gestionar sus agendas de citas eficientemente y procesar los cálculos matemáticos de las comisiones tras cada cierre comercial de forma precisa.</a:t>
            </a:r>
            <a:endParaRPr sz="1800">
              <a:solidFill>
                <a:schemeClr val="dk1"/>
              </a:solidFill>
            </a:endParaRPr>
          </a:p>
          <a:p>
            <a:pPr indent="0" lvl="0" marL="0" rtl="0" algn="l">
              <a:lnSpc>
                <a:spcPct val="115000"/>
              </a:lnSpc>
              <a:spcBef>
                <a:spcPts val="1200"/>
              </a:spcBef>
              <a:spcAft>
                <a:spcPts val="0"/>
              </a:spcAft>
              <a:buNone/>
            </a:pPr>
            <a:r>
              <a:rPr lang="es-VE" sz="1800">
                <a:solidFill>
                  <a:schemeClr val="dk1"/>
                </a:solidFill>
              </a:rPr>
              <a:t>Finalmente, se ejecutaron pruebas de integración orientadas a confirmar que todos los módulos arquitectónicos operaran en conjunto de manera fluida. Mediante estos ensayos de extremo a extremo, se verificó con éxito la trazabilidad completa del flujo de trabajo, asegurando que las consultas (Leads) generadas por los Clientes se vincularan correctamente con el inventario de inmuebles y alertaran al equipo de ventas correspondiente en tiempo real.</a:t>
            </a:r>
            <a:endParaRPr sz="1800">
              <a:solidFill>
                <a:schemeClr val="dk1"/>
              </a:solidFill>
            </a:endParaRPr>
          </a:p>
          <a:p>
            <a:pPr indent="0" lvl="0" marL="0" rtl="0" algn="l">
              <a:spcBef>
                <a:spcPts val="1200"/>
              </a:spcBef>
              <a:spcAft>
                <a:spcPts val="0"/>
              </a:spcAft>
              <a:buClr>
                <a:schemeClr val="dk1"/>
              </a:buClr>
              <a:buSzPts val="1100"/>
              <a:buFont typeface="Arial"/>
              <a:buNone/>
            </a:pPr>
            <a:r>
              <a:t/>
            </a:r>
            <a:endParaRPr sz="500">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2"/>
          <p:cNvSpPr/>
          <p:nvPr/>
        </p:nvSpPr>
        <p:spPr>
          <a:xfrm>
            <a:off x="0" y="0"/>
            <a:ext cx="12192000" cy="503434"/>
          </a:xfrm>
          <a:prstGeom prst="rect">
            <a:avLst/>
          </a:prstGeom>
          <a:solidFill>
            <a:srgbClr val="1E4E79"/>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PROYECTO FINAL</a:t>
            </a:r>
            <a:endParaRPr sz="2400">
              <a:solidFill>
                <a:schemeClr val="lt1"/>
              </a:solidFill>
              <a:latin typeface="Calibri"/>
              <a:ea typeface="Calibri"/>
              <a:cs typeface="Calibri"/>
              <a:sym typeface="Calibri"/>
            </a:endParaRPr>
          </a:p>
        </p:txBody>
      </p:sp>
      <p:sp>
        <p:nvSpPr>
          <p:cNvPr id="266" name="Google Shape;266;p22"/>
          <p:cNvSpPr/>
          <p:nvPr/>
        </p:nvSpPr>
        <p:spPr>
          <a:xfrm>
            <a:off x="0" y="503434"/>
            <a:ext cx="12192000" cy="554804"/>
          </a:xfrm>
          <a:prstGeom prst="rect">
            <a:avLst/>
          </a:prstGeom>
          <a:solidFill>
            <a:srgbClr val="2E75B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PLAN DE MANTENIMIENTO</a:t>
            </a:r>
            <a:endParaRPr sz="2400">
              <a:solidFill>
                <a:schemeClr val="lt1"/>
              </a:solidFill>
              <a:latin typeface="Calibri"/>
              <a:ea typeface="Calibri"/>
              <a:cs typeface="Calibri"/>
              <a:sym typeface="Calibri"/>
            </a:endParaRPr>
          </a:p>
        </p:txBody>
      </p:sp>
      <p:sp>
        <p:nvSpPr>
          <p:cNvPr id="267" name="Google Shape;267;p22"/>
          <p:cNvSpPr/>
          <p:nvPr/>
        </p:nvSpPr>
        <p:spPr>
          <a:xfrm>
            <a:off x="320112" y="1494502"/>
            <a:ext cx="5219700" cy="1936500"/>
          </a:xfrm>
          <a:prstGeom prst="rect">
            <a:avLst/>
          </a:prstGeom>
          <a:noFill/>
          <a:ln>
            <a:noFill/>
          </a:ln>
        </p:spPr>
        <p:txBody>
          <a:bodyPr anchorCtr="0" anchor="t" bIns="45700" lIns="91425" spcFirstLastPara="1" rIns="91425" wrap="square" tIns="45700">
            <a:spAutoFit/>
          </a:bodyPr>
          <a:lstStyle/>
          <a:p>
            <a:pPr indent="0" lvl="0" marL="0" marR="0" rtl="0" algn="just">
              <a:lnSpc>
                <a:spcPct val="107000"/>
              </a:lnSpc>
              <a:spcBef>
                <a:spcPts val="0"/>
              </a:spcBef>
              <a:spcAft>
                <a:spcPts val="0"/>
              </a:spcAft>
              <a:buNone/>
            </a:pPr>
            <a:r>
              <a:rPr b="1" lang="es-VE">
                <a:solidFill>
                  <a:schemeClr val="dk1"/>
                </a:solidFill>
              </a:rPr>
              <a:t>MANTENIMIENTO CORRECTIVO</a:t>
            </a:r>
            <a:r>
              <a:rPr lang="es-VE">
                <a:solidFill>
                  <a:schemeClr val="dk1"/>
                </a:solidFill>
              </a:rPr>
              <a:t> Se enfoca en diagnosticar y solucionar fallos imprevistos que sean reportados por los Clientes o el equipo comercial una vez el sistema esté en operación. Esto abarca desde la corrección de errores en la carga de fotografías para el inventario de Inmuebles (Almacén D1), hasta la rectificación de posibles bloqueos en el cálculo automático de comisiones en el módulo de Ventas (Almacén D4). </a:t>
            </a:r>
            <a:endParaRPr sz="1700"/>
          </a:p>
        </p:txBody>
      </p:sp>
      <p:sp>
        <p:nvSpPr>
          <p:cNvPr id="268" name="Google Shape;268;p22"/>
          <p:cNvSpPr/>
          <p:nvPr/>
        </p:nvSpPr>
        <p:spPr>
          <a:xfrm>
            <a:off x="229325" y="4266127"/>
            <a:ext cx="5219700" cy="2272500"/>
          </a:xfrm>
          <a:prstGeom prst="rect">
            <a:avLst/>
          </a:prstGeom>
          <a:noFill/>
          <a:ln>
            <a:noFill/>
          </a:ln>
        </p:spPr>
        <p:txBody>
          <a:bodyPr anchorCtr="0" anchor="t" bIns="45700" lIns="91425" spcFirstLastPara="1" rIns="91425" wrap="square" tIns="45700">
            <a:noAutofit/>
          </a:bodyPr>
          <a:lstStyle/>
          <a:p>
            <a:pPr indent="0" lvl="0" marL="0" marR="0" rtl="0" algn="just">
              <a:lnSpc>
                <a:spcPct val="107000"/>
              </a:lnSpc>
              <a:spcBef>
                <a:spcPts val="0"/>
              </a:spcBef>
              <a:spcAft>
                <a:spcPts val="0"/>
              </a:spcAft>
              <a:buNone/>
            </a:pPr>
            <a:r>
              <a:rPr b="1" lang="es-VE">
                <a:solidFill>
                  <a:schemeClr val="dk1"/>
                </a:solidFill>
              </a:rPr>
              <a:t>MANTENIMIENTO PERFECTIVO</a:t>
            </a:r>
            <a:r>
              <a:rPr lang="es-VE">
                <a:solidFill>
                  <a:schemeClr val="dk1"/>
                </a:solidFill>
              </a:rPr>
              <a:t> Busca optimizar el rendimiento, la usabilidad y expandir las capacidades del sistema basándose en la retroalimentación directa de los Agentes Inmobiliarios y la Gerencia. Las acciones futuras proyectadas incluyen: la integración de APIs de Gmail para el envío de recordatorios automáticos en el módulo de Citas (D3), la implementación de mapas interactivos para la búsqueda de propiedades, y el desarrollo de paneles de control (Dashboards) con gráficos financieros más avanzados. </a:t>
            </a:r>
            <a:endParaRPr sz="1700"/>
          </a:p>
        </p:txBody>
      </p:sp>
      <p:sp>
        <p:nvSpPr>
          <p:cNvPr id="269" name="Google Shape;269;p22"/>
          <p:cNvSpPr/>
          <p:nvPr/>
        </p:nvSpPr>
        <p:spPr>
          <a:xfrm>
            <a:off x="6261225" y="4266127"/>
            <a:ext cx="5219700" cy="2213700"/>
          </a:xfrm>
          <a:prstGeom prst="rect">
            <a:avLst/>
          </a:prstGeom>
          <a:noFill/>
          <a:ln>
            <a:noFill/>
          </a:ln>
        </p:spPr>
        <p:txBody>
          <a:bodyPr anchorCtr="0" anchor="t" bIns="45700" lIns="91425" spcFirstLastPara="1" rIns="91425" wrap="square" tIns="45700">
            <a:noAutofit/>
          </a:bodyPr>
          <a:lstStyle/>
          <a:p>
            <a:pPr indent="0" lvl="0" marL="0" marR="0" rtl="0" algn="just">
              <a:lnSpc>
                <a:spcPct val="107000"/>
              </a:lnSpc>
              <a:spcBef>
                <a:spcPts val="0"/>
              </a:spcBef>
              <a:spcAft>
                <a:spcPts val="0"/>
              </a:spcAft>
              <a:buNone/>
            </a:pPr>
            <a:r>
              <a:rPr b="1" lang="es-VE">
                <a:solidFill>
                  <a:schemeClr val="dk1"/>
                </a:solidFill>
              </a:rPr>
              <a:t>MANTENIMIENTO PREVENTIVO</a:t>
            </a:r>
            <a:r>
              <a:rPr lang="es-VE">
                <a:solidFill>
                  <a:schemeClr val="dk1"/>
                </a:solidFill>
              </a:rPr>
              <a:t> Involucra todas las acciones proactivas de ingeniería diseñadas para blindar la seguridad corporativa y prevenir caídas del servidor. Entre las tareas críticas se establecen: la configuración de copias de seguridad (backups) automáticas de la base de datos relacional, la auditoría mensual de los registros (</a:t>
            </a:r>
            <a:r>
              <a:rPr i="1" lang="es-VE">
                <a:solidFill>
                  <a:schemeClr val="dk1"/>
                </a:solidFill>
              </a:rPr>
              <a:t>logs</a:t>
            </a:r>
            <a:r>
              <a:rPr lang="es-VE">
                <a:solidFill>
                  <a:schemeClr val="dk1"/>
                </a:solidFill>
              </a:rPr>
              <a:t>) del servidor, la limpieza de sesiones expiradas en el núcleo de autenticación, y la purga programada de imágenes residuales en el directorio de subidas. </a:t>
            </a:r>
            <a:endParaRPr sz="1700"/>
          </a:p>
        </p:txBody>
      </p:sp>
      <p:sp>
        <p:nvSpPr>
          <p:cNvPr id="270" name="Google Shape;270;p22"/>
          <p:cNvSpPr/>
          <p:nvPr/>
        </p:nvSpPr>
        <p:spPr>
          <a:xfrm>
            <a:off x="6261225" y="1494501"/>
            <a:ext cx="5219700" cy="2150100"/>
          </a:xfrm>
          <a:prstGeom prst="rect">
            <a:avLst/>
          </a:prstGeom>
          <a:noFill/>
          <a:ln>
            <a:noFill/>
          </a:ln>
        </p:spPr>
        <p:txBody>
          <a:bodyPr anchorCtr="0" anchor="t" bIns="45700" lIns="91425" spcFirstLastPara="1" rIns="91425" wrap="square" tIns="45700">
            <a:noAutofit/>
          </a:bodyPr>
          <a:lstStyle/>
          <a:p>
            <a:pPr indent="0" lvl="0" marL="0" marR="0" rtl="0" algn="just">
              <a:lnSpc>
                <a:spcPct val="107000"/>
              </a:lnSpc>
              <a:spcBef>
                <a:spcPts val="0"/>
              </a:spcBef>
              <a:spcAft>
                <a:spcPts val="0"/>
              </a:spcAft>
              <a:buNone/>
            </a:pPr>
            <a:r>
              <a:rPr b="1" lang="es-VE">
                <a:solidFill>
                  <a:schemeClr val="dk1"/>
                </a:solidFill>
              </a:rPr>
              <a:t>MANTENIMIENTO ADAPTATIVO</a:t>
            </a:r>
            <a:r>
              <a:rPr lang="es-VE">
                <a:solidFill>
                  <a:schemeClr val="dk1"/>
                </a:solidFill>
              </a:rPr>
              <a:t> Consiste en las modificaciones técnicas necesarias para que INSICA evolucione junto a su entorno tecnológico y operativo. Dado el estado actual del proyecto, esto incluirá la inminente migración de la base de datos de desarrollo (SQLite) a un motor robusto en la nube (MySQL). A futuro, contempla la actualización periódica de los frameworks base (Python, Flask, Werkzeug) y la adaptación de las variables de entorno para su despliegue definitivo en plataformas de </a:t>
            </a:r>
            <a:r>
              <a:rPr i="1" lang="es-VE">
                <a:solidFill>
                  <a:schemeClr val="dk1"/>
                </a:solidFill>
              </a:rPr>
              <a:t>hosting</a:t>
            </a:r>
            <a:r>
              <a:rPr lang="es-VE">
                <a:solidFill>
                  <a:schemeClr val="dk1"/>
                </a:solidFill>
              </a:rPr>
              <a:t> profesional. </a:t>
            </a:r>
            <a:endParaRPr sz="17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3"/>
          <p:cNvSpPr/>
          <p:nvPr/>
        </p:nvSpPr>
        <p:spPr>
          <a:xfrm>
            <a:off x="0" y="0"/>
            <a:ext cx="12192000" cy="503434"/>
          </a:xfrm>
          <a:prstGeom prst="rect">
            <a:avLst/>
          </a:prstGeom>
          <a:solidFill>
            <a:srgbClr val="1E4E79"/>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PROYECTO FINAL</a:t>
            </a:r>
            <a:endParaRPr sz="2400">
              <a:solidFill>
                <a:schemeClr val="lt1"/>
              </a:solidFill>
              <a:latin typeface="Calibri"/>
              <a:ea typeface="Calibri"/>
              <a:cs typeface="Calibri"/>
              <a:sym typeface="Calibri"/>
            </a:endParaRPr>
          </a:p>
        </p:txBody>
      </p:sp>
      <p:sp>
        <p:nvSpPr>
          <p:cNvPr id="276" name="Google Shape;276;p23"/>
          <p:cNvSpPr/>
          <p:nvPr/>
        </p:nvSpPr>
        <p:spPr>
          <a:xfrm>
            <a:off x="0" y="503434"/>
            <a:ext cx="12192000" cy="554804"/>
          </a:xfrm>
          <a:prstGeom prst="rect">
            <a:avLst/>
          </a:prstGeom>
          <a:solidFill>
            <a:srgbClr val="2E75B5"/>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s-VE" sz="2400">
                <a:solidFill>
                  <a:schemeClr val="lt1"/>
                </a:solidFill>
                <a:latin typeface="Calibri"/>
                <a:ea typeface="Calibri"/>
                <a:cs typeface="Calibri"/>
                <a:sym typeface="Calibri"/>
              </a:rPr>
              <a:t>CONCLUSIONES</a:t>
            </a:r>
            <a:endParaRPr sz="2400">
              <a:solidFill>
                <a:schemeClr val="lt1"/>
              </a:solidFill>
              <a:latin typeface="Calibri"/>
              <a:ea typeface="Calibri"/>
              <a:cs typeface="Calibri"/>
              <a:sym typeface="Calibri"/>
            </a:endParaRPr>
          </a:p>
        </p:txBody>
      </p:sp>
      <p:sp>
        <p:nvSpPr>
          <p:cNvPr id="277" name="Google Shape;277;p23"/>
          <p:cNvSpPr/>
          <p:nvPr/>
        </p:nvSpPr>
        <p:spPr>
          <a:xfrm>
            <a:off x="320075" y="1494500"/>
            <a:ext cx="11334600" cy="51117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s-VE" sz="1800">
                <a:solidFill>
                  <a:schemeClr val="dk1"/>
                </a:solidFill>
              </a:rPr>
              <a:t>La culminación del Sistema Inteligente de Gestión y Optimización de Operaciones para el Sector Inmobiliario (INSICA) marca un hito en la modernización de la agencia, cumpliendo cabalmente con el objetivo de erradicar la dependencia de métodos manuales y centralizar la información corporativa. A través de la aplicación rigurosa de la metodología de Llorens (1991), se logró orquestar una transición tecnológica exitosa hacia una plataforma web estructurada bajo el patrón Modelo-Vista-Controlador (MVC). Esta arquitectura en capas permitió aislar de manera efectiva la lógica de negocio de las interfaces gráficas, garantizando un código limpio, libre de dependencias heredadas y altamente preparado para su escalabilidad futura en el mercado venezolano.</a:t>
            </a:r>
            <a:endParaRPr sz="18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s-VE" sz="1800">
                <a:solidFill>
                  <a:schemeClr val="dk1"/>
                </a:solidFill>
              </a:rPr>
              <a:t>A nivel operativo y de seguridad, la plataforma consolida el flujo comercial mediante cuatro almacenes de datos interconectados que trazan la ruta completa desde la captación de la propiedad hasta la liquidación de las comisiones. Además, la implementación de un estricto Control de Acceso Basado en Roles (RBAC) resolvió la vulnerabilidad de los datos, asegurando que Clientes y Agentes Inmobiliarios interactúen en un entorno digital blindado donde se respeta el aislamiento de la información.</a:t>
            </a:r>
            <a:endParaRPr sz="1800">
              <a:solidFill>
                <a:schemeClr val="dk1"/>
              </a:solidFill>
            </a:endParaRPr>
          </a:p>
          <a:p>
            <a:pPr indent="0" lvl="0" marL="0" marR="0" rtl="0" algn="just">
              <a:lnSpc>
                <a:spcPct val="107000"/>
              </a:lnSpc>
              <a:spcBef>
                <a:spcPts val="1200"/>
              </a:spcBef>
              <a:spcAft>
                <a:spcPts val="0"/>
              </a:spcAft>
              <a:buNone/>
            </a:pPr>
            <a:r>
              <a:t/>
            </a:r>
            <a:endParaRPr sz="18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2024-09-12T15:26:05Z</dcterms:created>
  <dc:creator>Yaskelly Yedra</dc:creator>
</cp:coreProperties>
</file>